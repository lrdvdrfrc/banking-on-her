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7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BOOK ·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Prism.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visual system for Inclusive Finance Collective —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light, transparency, and the colours of progress.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66928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566928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· ESSENCE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Clarity through colour.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 is the house style for IFC. A prism doesn't invent light — it reveals what's already there. That's our job: making the full spectrum of financial inclusion visible to the people who make the decisions.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606040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Transparent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Glass, layers, see-through honesty.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931920"/>
            <a:ext cx="2606040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Bright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spring light, never dark.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931920"/>
            <a:ext cx="2606040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Human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ink, rounded forms, no harsh lines.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3931920"/>
            <a:ext cx="2606040" cy="2103120"/>
          </a:xfrm>
          <a:prstGeom prst="roundRect">
            <a:avLst>
              <a:gd name="adj" fmla="val 8696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Precise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2688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Science-based, data-anchored, quietly rigorous.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· LOGO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letters, one promise.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486400" cy="3840480"/>
          </a:xfrm>
          <a:prstGeom prst="roundRect">
            <a:avLst>
              <a:gd name="adj" fmla="val 4762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0175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kern="0" spc="6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INCLUSIVE FINANCE COLLECTIVE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0" y="2194560"/>
            <a:ext cx="4846320" cy="3840480"/>
          </a:xfrm>
          <a:prstGeom prst="roundRect">
            <a:avLst>
              <a:gd name="adj" fmla="val 4762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2423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12280" y="274320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Monogram
</a:t>
            </a: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IFC monogram as the primary identifier in small spaces, favicons, and sign-offs.
</a:t>
            </a:r>
            <a:r>
              <a:rPr lang="en-US" sz="13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Clear space
</a:t>
            </a: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leave at least the height of one letter on all sides.
</a:t>
            </a:r>
            <a:r>
              <a:rPr lang="en-US" sz="13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Minimum size
</a:t>
            </a: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24px on screen. 8mm in print.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· COLOUR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Four standalone flares.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colour stands alone — never blended into a rainbow. They live in the background as light, not as pattern.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5029200" cy="1691640"/>
          </a:xfrm>
          <a:prstGeom prst="roundRect">
            <a:avLst>
              <a:gd name="adj" fmla="val 10811"/>
            </a:avLst>
          </a:prstGeom>
          <a:solidFill>
            <a:srgbClr val="6DC0C8"/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880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Aqua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5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Trust · Tech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5029200" cy="1691640"/>
          </a:xfrm>
          <a:prstGeom prst="roundRect">
            <a:avLst>
              <a:gd name="adj" fmla="val 10811"/>
            </a:avLst>
          </a:prstGeom>
          <a:solidFill>
            <a:srgbClr val="F5B896"/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880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Peach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5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Warmth · Voice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5029200" cy="1691640"/>
          </a:xfrm>
          <a:prstGeom prst="roundRect">
            <a:avLst>
              <a:gd name="adj" fmla="val 10811"/>
            </a:avLst>
          </a:prstGeom>
          <a:solidFill>
            <a:srgbClr val="9FD4B0"/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800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Sage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5349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715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5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Balance · Care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4572000"/>
            <a:ext cx="5029200" cy="1691640"/>
          </a:xfrm>
          <a:prstGeom prst="roundRect">
            <a:avLst>
              <a:gd name="adj" fmla="val 10811"/>
            </a:avLst>
          </a:prstGeom>
          <a:solidFill>
            <a:srgbClr val="F2D080"/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4800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Honey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5349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5715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5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 · Value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INK  </a:t>
            </a: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#0D3B2E   </a:t>
            </a:r>
            <a:r>
              <a:rPr lang="en-US" sz="8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MIST  </a:t>
            </a: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#EAF6F1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· TYPOGRAPHY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&amp; Inter.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486400" cy="3840480"/>
          </a:xfrm>
          <a:prstGeom prst="roundRect">
            <a:avLst>
              <a:gd name="adj" fmla="val 4762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688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· DISPLAY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5166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Headlines, monograms, section labels. Used bold at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ABCDEFGHIJKLMNOPQRSTUVWXYZ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1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1234567890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2286000"/>
            <a:ext cx="4846320" cy="3840480"/>
          </a:xfrm>
          <a:prstGeom prst="roundRect">
            <a:avLst>
              <a:gd name="adj" fmla="val 4762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15000" dirty="0"/>
          </a:p>
        </p:txBody>
      </p:sp>
      <p:sp>
        <p:nvSpPr>
          <p:cNvPr id="12" name="Text 10"/>
          <p:cNvSpPr/>
          <p:nvPr/>
        </p:nvSpPr>
        <p:spPr>
          <a:xfrm>
            <a:off x="676656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 · BODY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6656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Paragraphs, UI, captions. Set at 14–16pt with generous line-height.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3B2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abcdefghijklmnopqrstuvwxyz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3B2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1234567890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 · GLASS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Glass, layered.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surface is a pane of frosted glass — backdrop-blurred, slightly 3D, with a top bevel of white light.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5486400" cy="3566160"/>
          </a:xfrm>
          <a:prstGeom prst="roundRect">
            <a:avLst>
              <a:gd name="adj" fmla="val 512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834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SAMPLE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Prism glass card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white fill · subtle shadow · top-edge bevel · rounded corners at 0.2in · sits above the four-corner colour flares.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651760"/>
            <a:ext cx="4846320" cy="3566160"/>
          </a:xfrm>
          <a:prstGeom prst="roundRect">
            <a:avLst>
              <a:gd name="adj" fmla="val 512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6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· 72% opacity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6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BORDER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· 1px · 85% opacity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6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RADIUS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 in (≈ 16 px)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6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SHADOW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· blur 22 · offset 10 · 18%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6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BEVEL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highlight strip, 90% white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5394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6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BACKDROP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5394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 24px · saturate 1.25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 · BUTTONS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Colour at the edges.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Buttons are glass panels with a colour halo — the spectrum runs along the edge, not inside the label.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816352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6DC0C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743200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8000"/>
            </a:srgbClr>
          </a:solidFill>
          <a:ln w="31750">
            <a:solidFill>
              <a:srgbClr val="6DC0C8"/>
            </a:solidFill>
            <a:prstDash val="solid"/>
          </a:ln>
          <a:effectLst>
            <a:outerShdw blurRad="355600" dist="50800" dir="5400000" algn="bl" rotWithShape="0">
              <a:srgbClr val="6DC0C8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8529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C0C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Aqua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#6DC0C8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816352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F5B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743200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8000"/>
            </a:srgbClr>
          </a:solidFill>
          <a:ln w="31750">
            <a:solidFill>
              <a:srgbClr val="F5B896"/>
            </a:solidFill>
            <a:prstDash val="solid"/>
          </a:ln>
          <a:effectLst>
            <a:outerShdw blurRad="355600" dist="50800" dir="5400000" algn="bl" rotWithShape="0">
              <a:srgbClr val="F5B896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8529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89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Peach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#F5B896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79392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F2D080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206240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8000"/>
            </a:srgbClr>
          </a:solidFill>
          <a:ln w="31750">
            <a:solidFill>
              <a:srgbClr val="F2D080"/>
            </a:solidFill>
            <a:prstDash val="solid"/>
          </a:ln>
          <a:effectLst>
            <a:outerShdw blurRad="355600" dist="50800" dir="5400000" algn="bl" rotWithShape="0">
              <a:srgbClr val="F2D080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3159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D08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Honey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#F2D080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279392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9FD4B0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4206240"/>
            <a:ext cx="52120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8000"/>
            </a:srgbClr>
          </a:solidFill>
          <a:ln w="31750">
            <a:solidFill>
              <a:srgbClr val="9FD4B0"/>
            </a:solidFill>
            <a:prstDash val="solid"/>
          </a:ln>
          <a:effectLst>
            <a:outerShdw blurRad="355600" dist="50800" dir="5400000" algn="bl" rotWithShape="0">
              <a:srgbClr val="9FD4B0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3159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D4B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Sage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0D3B2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#9FD4B0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 · LIGHT FLARES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background is light.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slide, page and screen uses the same four-corner flare system. Aqua · Peach · Honey · Sage — each one standing on its own, blurred into light.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698480" cy="3566160"/>
          </a:xfrm>
          <a:prstGeom prst="roundRect">
            <a:avLst>
              <a:gd name="adj" fmla="val 5128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3B2E">
                    <a:alpha val="6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FLARE RECIPE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LEFT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  #6DC0C8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RIGHT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3383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Peach #F5B896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BOTTOM RIGHT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Honey #F2D080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BOTTOM LEFT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Sage  #9FD4B0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HOTSPOTS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5029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· 4 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5029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BLUR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5029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180px Gaussian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 · VOICE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Quiet confidence.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write the way we design: clear, warm, evidence-led. No jargon, no lectures, no emojis.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5212080" cy="3657600"/>
          </a:xfrm>
          <a:prstGeom prst="roundRect">
            <a:avLst>
              <a:gd name="adj" fmla="val 5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 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Plain-spoken.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Optimistic.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with numbers.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 ARE NOT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48920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Buzzword-heavy.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Preachy.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Grim.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Vague with claims.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651760"/>
            <a:ext cx="5212080" cy="3657600"/>
          </a:xfrm>
          <a:prstGeom prst="roundRect">
            <a:avLst>
              <a:gd name="adj" fmla="val 5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 SAY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0" y="3108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“Financial inclusion is a business opportunity.”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“Here's the data.”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“Let's make it work.”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 DON'T SAY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48920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“Empowerment journey.”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“Game-changing synergy.”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“Disrupting the status quo.”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D3B2E">
                    <a:alpha val="4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 · RULES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Do's &amp; Don'ts.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2120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glass surfaces transparent — always readable but never fully opaque.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2286000"/>
            <a:ext cx="52120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four flares in corners. Let them stand alone, never blend into a gradient.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52120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body copy in Inter at 14–16pt with line-height 1.5×.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611880"/>
            <a:ext cx="52120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DON'T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114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rainbow gradients or pride-flag stacks. One flare per corner, no blending.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52120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5166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DON'T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5440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coloured text on coloured backgrounds. Ink on mist, always.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937760"/>
            <a:ext cx="52120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38000"/>
            </a:srgbClr>
          </a:solidFill>
          <a:ln/>
          <a:effectLst>
            <a:outerShdw blurRad="381000" dist="76200" dir="5400000" algn="bl" rotWithShape="0">
              <a:srgbClr val="2A5046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5166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3B2E">
                    <a:alpha val="7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DON'T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5440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drop shadows darker than ink · 18%. Keep the world light.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IFC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in the light.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 · Brand System · Inclusive Finance Collective ·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457200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hello@inclusivefinance.co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0D3B2E">
                    <a:alpha val="45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Macintosh PowerPoint</Application>
  <PresentationFormat>Breedbeeld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Arial</vt:lpstr>
      <vt:lpstr>Calibri</vt:lpstr>
      <vt:lpstr>Inter</vt:lpstr>
      <vt:lpstr>Sora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IFC Prism Brand Book</dc:title>
  <dc:subject>PptxGenJS Presentation</dc:subject>
  <dc:creator>IFC</dc:creator>
  <cp:lastModifiedBy>jan van Waveren</cp:lastModifiedBy>
  <cp:revision>1</cp:revision>
  <dcterms:created xsi:type="dcterms:W3CDTF">2026-04-15T10:43:50Z</dcterms:created>
  <dcterms:modified xsi:type="dcterms:W3CDTF">2026-04-15T10:44:22Z</dcterms:modified>
</cp:coreProperties>
</file>