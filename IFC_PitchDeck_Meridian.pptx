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RIDIAN">
    <p:bg>
      <p:bgPr>
        <a:solidFill>
          <a:srgbClr val="1A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Largest Wealth Transfer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 History Is 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Happening Now.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36576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389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financial institutions are not ready. We make them ready — and we prove the business case.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  ·  THE INCLUSIVE BUSINESS COLLECTIVE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WE EXIST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numbers </a:t>
            </a:r>
            <a:pPr indent="0" marL="0">
              <a:buNone/>
            </a:pPr>
            <a:r>
              <a:rPr lang="en-US" sz="2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that changed our trajectory.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7432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3291840" cy="36576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50%+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1005840" y="3977640"/>
            <a:ext cx="54864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160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European wealth is now controlled by women — a figure accelerating as boomers transfer assets to partners who outlive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291840" cy="36576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36%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4663440" y="3977640"/>
            <a:ext cx="54864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4160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profitability at companies with diverse executive teams. This is not a values argument — it is a revenue argument.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291840" cy="36576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60+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8321040" y="3977640"/>
            <a:ext cx="54864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4160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countries where our methodology is being deployed through the World Bank. This is proof of concept at global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 WE 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science-based </a:t>
            </a:r>
            <a:pPr indent="0" marL="0">
              <a:buNone/>
            </a:pPr>
            <a:r>
              <a:rPr lang="en-US" sz="22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inclusion consultancy</a:t>
            </a:r>
            <a:pPr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— built for the business side.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 helps medium and large corporates convert underserved markets into measurable commercial growth. We are not a DEI programme. We are not an HR initiative. We are a business performance firm.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7432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17520"/>
            <a:ext cx="539496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46120"/>
            <a:ext cx="54864" cy="114300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make the business case, not the moral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come with revenue numbers. Underserved markets are a commercial opportunity with a calculable cost of inaction.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017520"/>
            <a:ext cx="539496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246120"/>
            <a:ext cx="54864" cy="114300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go through the client door, not the HR door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help companies reach, serve, and grow revenue from diverse clients externally. An almost entirely unoccupied space.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800600"/>
            <a:ext cx="539496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029200"/>
            <a:ext cx="54864" cy="114300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983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deliver at world-class scale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Evidence-based methodology. 60+ country delivery via the World Bank. International credibility at ministerial and C-suite level.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4800600"/>
            <a:ext cx="539496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5029200"/>
            <a:ext cx="54864" cy="114300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983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DEI fatigue is our opening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5440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backlash against HR-driven DEI is real. Boards want commercial results. We are the only firm positioned to deliver them.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WE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</a:t>
            </a:r>
            <a:pPr indent="0" marL="0">
              <a:buNone/>
            </a:pPr>
            <a:r>
              <a:rPr lang="en-US" sz="26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Gender Capital Lab </a:t>
            </a:r>
            <a:pPr indent="0" marL="0">
              <a:buNone/>
            </a:pPr>
            <a:r>
              <a:rPr lang="en-US" sz="26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7432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2606040" cy="4206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Diagnose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3337560"/>
            <a:ext cx="45720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Gender Lens Framework. Data-driven analysis of where a financial institution is leaving money on the table.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5074920"/>
            <a:ext cx="2240280" cy="1371600"/>
          </a:xfrm>
          <a:prstGeom prst="rect">
            <a:avLst/>
          </a:prstGeom>
          <a:solidFill>
            <a:srgbClr val="1A3326">
              <a:alpha val="90000"/>
            </a:srgbClr>
          </a:solidFill>
          <a:ln w="6350">
            <a:solidFill>
              <a:srgbClr val="3E5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166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51560" y="5394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Opportunity map with quantified business potential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2377440"/>
            <a:ext cx="2606040" cy="4206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94760" y="3337560"/>
            <a:ext cx="45720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Turn diagnosis into an executive-ready strategy. A fact-based business case that makes the commercial argument impossible to ignore.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5074920"/>
            <a:ext cx="2240280" cy="1371600"/>
          </a:xfrm>
          <a:prstGeom prst="rect">
            <a:avLst/>
          </a:prstGeom>
          <a:solidFill>
            <a:srgbClr val="1A3326">
              <a:alpha val="90000"/>
            </a:srgbClr>
          </a:solidFill>
          <a:ln w="6350">
            <a:solidFill>
              <a:srgbClr val="3E5A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5166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86200" y="5394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Investment-grade strategy &amp; business case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377440"/>
            <a:ext cx="2606040" cy="4206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&amp; Test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29400" y="3337560"/>
            <a:ext cx="45720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 internal teams, build certified practitioners and pilot improved products in a safe-to-fail environment.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5074920"/>
            <a:ext cx="2240280" cy="1371600"/>
          </a:xfrm>
          <a:prstGeom prst="rect">
            <a:avLst/>
          </a:prstGeom>
          <a:solidFill>
            <a:srgbClr val="1A3326">
              <a:alpha val="90000"/>
            </a:srgbClr>
          </a:solidFill>
          <a:ln w="6350">
            <a:solidFill>
              <a:srgbClr val="3E5A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5166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720840" y="5394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Validated solutions + certified practitioners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35440" y="2377440"/>
            <a:ext cx="2606040" cy="4206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640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Measure &amp; Scale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64040" y="3337560"/>
            <a:ext cx="45720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64040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 proven interventions across the organisation. Measure impact rigorously. Build the case for scaling.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18320" y="5074920"/>
            <a:ext cx="2240280" cy="1371600"/>
          </a:xfrm>
          <a:prstGeom prst="rect">
            <a:avLst/>
          </a:prstGeom>
          <a:solidFill>
            <a:srgbClr val="1A3326">
              <a:alpha val="90000"/>
            </a:srgbClr>
          </a:solidFill>
          <a:ln w="6350">
            <a:solidFill>
              <a:srgbClr val="3E5A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5166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555480" y="5394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Proven impact + scaling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IT DELIVERS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layers </a:t>
            </a:r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 value.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7432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539496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ENTRY PRODUCT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Readiness Scan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291840"/>
            <a:ext cx="54864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AI-enabled diagnostic: zero measurement, bias audit, readiness rating (A-D). Fast, affordable, creates the business case for the next step.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39496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ENGAGEMENT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Advisory Trajectory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3291840"/>
            <a:ext cx="54864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Bespoke work across employee &amp; organisation, data, marketing, ecosystems and propositions. Menu-based: clients choose their modules.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539496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CAPABILITY BUILDING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Academy &amp; Certification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5440680"/>
            <a:ext cx="54864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532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 and certify internal practitioners at Associate, Advisor and Fellow level. Builds lasting organisational capability.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526280"/>
            <a:ext cx="539496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462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RECURRING 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Membership &amp; Platform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75120" y="5440680"/>
            <a:ext cx="54864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5532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Peer learning, tools, benchmarks. Year 2-3: digital layer with AI-assisted advisory. Scales without headcount.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CASE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Bank </a:t>
            </a:r>
            <a:pPr indent="0" marL="0">
              <a:buNone/>
            </a:pPr>
            <a:r>
              <a:rPr lang="en-US" sz="2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 the Netherlands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7432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10698480" cy="393192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Mid-size Dutch bank with 200k+ retail clients. Wealth management arm underserving women clients who now control 52% of inherited assets.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834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Products designed for male clients. Female client attrition at 3x industry average after inheritance events. Estimated annual revenue loss: EUR 12M.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 INTERVENTION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Readiness Scan (Day 1) revealed D-rating across propositions and marcom. Advisory trajectory redesigned 3 key products. Academy certified 24 internal practitioners.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Female client retention improved 41%. New wealth product generated EUR 8.2M in first year. Bank became IBC Certified Gender Lab partner.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6400800"/>
            <a:ext cx="86868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8448" y="6281928"/>
            <a:ext cx="182880" cy="1828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Day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94048" y="6281928"/>
            <a:ext cx="182880" cy="1828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00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Month 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9648" y="6281928"/>
            <a:ext cx="182880" cy="1828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Month 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985248" y="6281928"/>
            <a:ext cx="182880" cy="1828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1E7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Month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</a:t>
            </a:r>
            <a:pPr indent="0" marL="0">
              <a:buNone/>
            </a:pPr>
            <a:r>
              <a:rPr lang="en-US" sz="28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founders.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7432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3566160" cy="41148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606040"/>
            <a:ext cx="1005840" cy="1005840"/>
          </a:xfrm>
          <a:prstGeom prst="ellipse">
            <a:avLst/>
          </a:prstGeom>
          <a:solidFill>
            <a:srgbClr val="E8833A">
              <a:alpha val="85000"/>
            </a:srgbClr>
          </a:solidFill>
          <a:ln w="19050">
            <a:solidFill>
              <a:srgbClr val="C46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A332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Chantal Korteweg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Chief Expert &amp; External Relations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4480560"/>
            <a:ext cx="64008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5720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Internationally recognised expert. Network spanning ministers, royalty and C-suite executives. Leads the methodology and World Bank relationship across 60 countries.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3566160" cy="41148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606040"/>
            <a:ext cx="1005840" cy="1005840"/>
          </a:xfrm>
          <a:prstGeom prst="ellipse">
            <a:avLst/>
          </a:prstGeom>
          <a:solidFill>
            <a:srgbClr val="E8833A">
              <a:alpha val="85000"/>
            </a:srgbClr>
          </a:solidFill>
          <a:ln w="19050">
            <a:solidFill>
              <a:srgbClr val="C46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A332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BJ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Britt Jacobs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Chief Delivery &amp; Learning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4480560"/>
            <a:ext cx="64008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45720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Speaker academy founder, learning design and HR capability expert. Leads service design, the academy, certification and client delivery quality.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2377440"/>
            <a:ext cx="3566160" cy="41148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2606040"/>
            <a:ext cx="1005840" cy="1005840"/>
          </a:xfrm>
          <a:prstGeom prst="ellipse">
            <a:avLst/>
          </a:prstGeom>
          <a:solidFill>
            <a:srgbClr val="E8833A">
              <a:alpha val="85000"/>
            </a:srgbClr>
          </a:solidFill>
          <a:ln w="19050">
            <a:solidFill>
              <a:srgbClr val="C46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A332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JW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Jan van Waveren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Chief Commercial &amp; Marketing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875520" y="4480560"/>
            <a:ext cx="640080" cy="27432"/>
          </a:xfrm>
          <a:prstGeom prst="rect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45720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Strategic positioning and commercial engine. Leads the pitch, prospect development, brand identity and commercial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women inheriting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world’s wealth need firms that 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understand them.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4297680"/>
            <a:ext cx="36576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are that firm. And we move now.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  ·  THE INCLUSIVE BUSINESS COLLECTIVE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IBC Meridian Pitch Deck</dc:title>
  <dc:subject>PptxGenJS Presentation</dc:subject>
  <dc:creator>IBC</dc:creator>
  <cp:lastModifiedBy>IBC</cp:lastModifiedBy>
  <cp:revision>1</cp:revision>
  <dcterms:created xsi:type="dcterms:W3CDTF">2026-04-15T06:57:28Z</dcterms:created>
  <dcterms:modified xsi:type="dcterms:W3CDTF">2026-04-15T06:57:28Z</dcterms:modified>
</cp:coreProperties>
</file>