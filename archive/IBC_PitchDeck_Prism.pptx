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solidFill>
          <a:srgbClr val="E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7315200" cy="7315200"/>
          </a:xfrm>
          <a:prstGeom prst="ellipse">
            <a:avLst/>
          </a:prstGeom>
          <a:solidFill>
            <a:srgbClr val="7EB8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5486400" cy="5486400"/>
          </a:xfrm>
          <a:prstGeom prst="ellipse">
            <a:avLst/>
          </a:prstGeom>
          <a:solidFill>
            <a:srgbClr val="FF9E7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Wealth Transfer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History Is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Happening Now.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financial institutions are not ready. We make them ready — and we prove the business case.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143000" cy="36576"/>
          </a:xfrm>
          <a:prstGeom prst="rect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4846320"/>
            <a:ext cx="1143000" cy="36576"/>
          </a:xfrm>
          <a:prstGeom prst="rect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846320"/>
            <a:ext cx="1143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4846320"/>
            <a:ext cx="1143000" cy="36576"/>
          </a:xfrm>
          <a:prstGeom prst="rect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FF9E7A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changed our trajectory.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291840" cy="3474720"/>
          </a:xfrm>
          <a:prstGeom prst="roundRect">
            <a:avLst>
              <a:gd name="adj" fmla="val 6944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European wealth is now controlled by women — a figure accelerating as boomers transfer assets to partners who outlive them.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291840" cy="3474720"/>
          </a:xfrm>
          <a:prstGeom prst="roundRect">
            <a:avLst>
              <a:gd name="adj" fmla="val 6944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9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profitability at companies with diverse executive teams. This is not a values argument — it is a revenue argument.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291840" cy="3474720"/>
          </a:xfrm>
          <a:prstGeom prst="roundRect">
            <a:avLst>
              <a:gd name="adj" fmla="val 6944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210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where our methodology is being deployed through the World Bank. This is proof of concept at global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science-based inclusion consultancy — built for the business side.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 helps medium and large corporates convert underserved markets into measurable commercial growth. We are not a DEI programme. We are not an HR initiative. We are a business performance firm.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43200"/>
            <a:ext cx="5029200" cy="1554480"/>
          </a:xfrm>
          <a:prstGeom prst="roundRect">
            <a:avLst>
              <a:gd name="adj" fmla="val 14706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the business case, not the moral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come with revenue numbers. Underserved markets are a commercial opportunity with a calculable cost of inaction.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2743200"/>
            <a:ext cx="5029200" cy="1554480"/>
          </a:xfrm>
          <a:prstGeom prst="roundRect">
            <a:avLst>
              <a:gd name="adj" fmla="val 14706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the client door, not the HR door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companies reach, serve, and grow revenue from diverse clients externally. An almost entirely unoccupied space.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572000"/>
            <a:ext cx="5029200" cy="1554480"/>
          </a:xfrm>
          <a:prstGeom prst="roundRect">
            <a:avLst>
              <a:gd name="adj" fmla="val 14706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at world-class 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methodology. 60+ country delivery via the World Bank. International credibility at ministerial and C-suite level.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4572000"/>
            <a:ext cx="5029200" cy="1554480"/>
          </a:xfrm>
          <a:prstGeom prst="roundRect">
            <a:avLst>
              <a:gd name="adj" fmla="val 14706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fatigue is our opening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backlash against HR-driven DEI is real. Boards want commercial results. We are the only firm positioned to deliver them.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828800"/>
            <a:ext cx="6400800" cy="6400800"/>
          </a:xfrm>
          <a:prstGeom prst="ellipse">
            <a:avLst/>
          </a:prstGeom>
          <a:solidFill>
            <a:srgbClr val="7CFFC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Gender Capital Lab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560320" cy="4114800"/>
          </a:xfrm>
          <a:prstGeom prst="roundRect">
            <a:avLst>
              <a:gd name="adj" fmla="val 892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Lens Framework. Data-driven analysis of where a financial institution is leaving money on the 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156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map with quantified business potential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2103120"/>
            <a:ext cx="2560320" cy="4114800"/>
          </a:xfrm>
          <a:prstGeom prst="roundRect">
            <a:avLst>
              <a:gd name="adj" fmla="val 892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9476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diagnosis into an executive-ready strategy. A fact-based business case that makes the commercial argument impossible to ignore.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9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8620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Investment-grade strategy &amp; business case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103120"/>
            <a:ext cx="2560320" cy="4114800"/>
          </a:xfrm>
          <a:prstGeom prst="roundRect">
            <a:avLst>
              <a:gd name="adj" fmla="val 892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internal teams, build certified practitioners and pilot improved products in a safe-to-fail environment.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72084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solutions + certified practitioners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35440" y="2103120"/>
            <a:ext cx="2560320" cy="4114800"/>
          </a:xfrm>
          <a:prstGeom prst="roundRect">
            <a:avLst>
              <a:gd name="adj" fmla="val 892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F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6404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F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6404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proven interventions across the organisation. Measure impact rigorously. Build the case for scaling.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1832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F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55548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impact + scaling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7EB8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value.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120640" cy="1920240"/>
          </a:xfrm>
          <a:prstGeom prst="roundRect">
            <a:avLst>
              <a:gd name="adj" fmla="val 11905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PRODUCT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diagnostic: zero measurement, bias audit, readiness rating (A-D). Fast, affordable, creates the business case for the next step.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120640" cy="1920240"/>
          </a:xfrm>
          <a:prstGeom prst="roundRect">
            <a:avLst>
              <a:gd name="adj" fmla="val 11905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ENGAGEMENT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Trajectory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work across employee &amp; organisation, data, marketing, ecosystems and propositions. Menu-based: clients choose their modules.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5120640" cy="1920240"/>
          </a:xfrm>
          <a:prstGeom prst="roundRect">
            <a:avLst>
              <a:gd name="adj" fmla="val 11905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Certification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certify internal practitioners at Associate, Advisor and Fellow level. Builds lasting organisational capability.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297680"/>
            <a:ext cx="5120640" cy="1920240"/>
          </a:xfrm>
          <a:prstGeom prst="roundRect">
            <a:avLst>
              <a:gd name="adj" fmla="val 11905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F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&amp; 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learning, tools, benchmarks. Year 2-3: digital layer with AI-assisted advisory. Scales without headcount.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743200"/>
            <a:ext cx="7315200" cy="73152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 the Netherlands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698480" cy="4389120"/>
          </a:xfrm>
          <a:prstGeom prst="roundRect">
            <a:avLst>
              <a:gd name="adj" fmla="val 5208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Dutch bank with 200k+ retail clients. Wealth management arm underserving women clients who now control 52% of inherited assets.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designed for male clients. Female client attrition at 3x industry average after inheritance events. Estimated annual revenue loss: EUR 12M.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 INTERVENTION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 (Day 1) revealed D-rating across propositions and marcom. Advisory trajectory redesigned 3 key products. Academy certified 24 internal practitioners.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F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client retention improved 41%. New wealth product generated EUR 8.2M in first year. Bank became IBC Certified Gender Lab partner.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5669280"/>
            <a:ext cx="2171700" cy="36576"/>
          </a:xfrm>
          <a:prstGeom prst="rect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3300" y="5669280"/>
            <a:ext cx="2171700" cy="36576"/>
          </a:xfrm>
          <a:prstGeom prst="rect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5669280"/>
            <a:ext cx="21717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6700" y="5669280"/>
            <a:ext cx="2171700" cy="36576"/>
          </a:xfrm>
          <a:prstGeom prst="rect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5532120"/>
            <a:ext cx="182880" cy="182880"/>
          </a:xfrm>
          <a:prstGeom prst="ellipse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94048" y="5532120"/>
            <a:ext cx="182880" cy="182880"/>
          </a:xfrm>
          <a:prstGeom prst="ellipse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00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89648" y="5532120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56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985248" y="5532120"/>
            <a:ext cx="182880" cy="182880"/>
          </a:xfrm>
          <a:prstGeom prst="ellipse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5486400" cy="5486400"/>
          </a:xfrm>
          <a:prstGeom prst="ellipse">
            <a:avLst/>
          </a:prstGeom>
          <a:solidFill>
            <a:srgbClr val="7CFFC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474720" cy="4114800"/>
          </a:xfrm>
          <a:prstGeom prst="roundRect">
            <a:avLst>
              <a:gd name="adj" fmla="val 657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377440"/>
            <a:ext cx="1005840" cy="1005840"/>
          </a:xfrm>
          <a:prstGeom prst="ellipse">
            <a:avLst/>
          </a:prstGeom>
          <a:solidFill>
            <a:srgbClr val="7EB8FF">
              <a:alpha val="80000"/>
            </a:srgbClr>
          </a:solidFill>
          <a:ln w="19050">
            <a:solidFill>
              <a:srgbClr val="FF9E7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Chantal Korteweg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Expert &amp; External Relations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Internationally recognised expert. Network spanning ministers, royalty and C-suite executives. Leads the methodology and World Bank relationship across 60 countries.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3474720" cy="4114800"/>
          </a:xfrm>
          <a:prstGeom prst="roundRect">
            <a:avLst>
              <a:gd name="adj" fmla="val 657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2377440"/>
            <a:ext cx="1005840" cy="1005840"/>
          </a:xfrm>
          <a:prstGeom prst="ellipse">
            <a:avLst/>
          </a:prstGeom>
          <a:solidFill>
            <a:srgbClr val="FF9E7A">
              <a:alpha val="80000"/>
            </a:srgbClr>
          </a:solidFill>
          <a:ln w="1905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 Jacobs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Delivery &amp;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academy founder, learning design and HR capability expert. Leads service design, the academy, certification and client delivery quality.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12480" y="2103120"/>
            <a:ext cx="3474720" cy="4114800"/>
          </a:xfrm>
          <a:prstGeom prst="roundRect">
            <a:avLst>
              <a:gd name="adj" fmla="val 657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C5E8DC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46920" y="2377440"/>
            <a:ext cx="1005840" cy="1005840"/>
          </a:xfrm>
          <a:prstGeom prst="ellipse">
            <a:avLst/>
          </a:prstGeom>
          <a:solidFill>
            <a:srgbClr val="FFD166">
              <a:alpha val="80000"/>
            </a:srgbClr>
          </a:solidFill>
          <a:ln w="19050">
            <a:solidFill>
              <a:srgbClr val="7CFFC4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692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van Waveren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Commercial &amp; Marketing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and commercial engine. Leads the pitch, prospect development, brand identity and commercial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7315200" cy="7315200"/>
          </a:xfrm>
          <a:prstGeom prst="ellipse">
            <a:avLst/>
          </a:prstGeom>
          <a:solidFill>
            <a:srgbClr val="7EB8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5486400" cy="5486400"/>
          </a:xfrm>
          <a:prstGeom prst="ellipse">
            <a:avLst/>
          </a:prstGeom>
          <a:solidFill>
            <a:srgbClr val="FF9E7A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women inheriting the world’s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need firms that 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that firm. And we move now.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1143000" cy="36576"/>
          </a:xfrm>
          <a:prstGeom prst="rect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4389120"/>
            <a:ext cx="1143000" cy="36576"/>
          </a:xfrm>
          <a:prstGeom prst="rect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4389120"/>
            <a:ext cx="1143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4389120"/>
            <a:ext cx="1143000" cy="36576"/>
          </a:xfrm>
          <a:prstGeom prst="rect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2E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  ·  The Inclusive Business Collective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2026-04-15T08:17:17Z</dcterms:created>
  <dcterms:modified xsi:type="dcterms:W3CDTF">2026-04-15T08:17:17Z</dcterms:modified>
</cp:coreProperties>
</file>