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solidFill>
          <a:srgbClr val="E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Wealth Transfer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History Is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Happening Now.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financial institutions are not ready. We make them ready — and we prove the business case.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48463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that changed our trajectory.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0058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European wealth is now controlled by women — a figure accelerating as boomers transfer assets to partners who outlive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262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6634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profitability at companies with diverse executive teams. This is not a values argument — it is a revenue argument.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286000"/>
            <a:ext cx="3291840" cy="3474720"/>
          </a:xfrm>
          <a:prstGeom prst="roundRect">
            <a:avLst>
              <a:gd name="adj" fmla="val 555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2322576"/>
            <a:ext cx="30175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321040" y="3474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where our methodology is being deployed through the World Bank. This is proof of concept at global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science-based inclusion consultancy — built for the business side.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helps medium and large corporates convert underserved markets into measurable commercial growth. We are not a DEI programme. We are not an HR initiative. We are a business performance firm.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7432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8408" y="27797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the business case, not the moral 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come with revenue numbers. Underserved markets are a commercial opportunity with a calculable cost of inaction.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43200"/>
            <a:ext cx="54864" cy="1554480"/>
          </a:xfrm>
          <a:prstGeom prst="rect">
            <a:avLst>
              <a:gd name="adj" fmla="val 50000"/>
            </a:avLst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7432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27797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the client door, not the HR door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291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companies reach, serve, and grow revenue from diverse clients externally. An almost entirely unoccupied space.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5720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" y="46085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at world-class scale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methodology. 60+ country delivery via the World Bank. International credibility at ministerial and C-suite level.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54864" cy="1554480"/>
          </a:xfrm>
          <a:prstGeom prst="rect">
            <a:avLst>
              <a:gd name="adj" fmla="val 50000"/>
            </a:avLst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4572000"/>
            <a:ext cx="5029200" cy="1554480"/>
          </a:xfrm>
          <a:prstGeom prst="roundRect">
            <a:avLst>
              <a:gd name="adj" fmla="val 11765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64808" y="4608576"/>
            <a:ext cx="475488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 fatigue is our opening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5120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backlash against HR-driven DEI is real. Boards want commercial results. We are the only firm positioned to deliver them.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Gender Capital Lab Methodology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Lens Framework. Data-driven analysis of where a financial institution is leaving money on the table.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5156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map with quantified business potential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9476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diagnosis into an executive-ready strategy. A fact-based business case that makes the commercial argument impossible to ignore.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8620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Investment-grade strategy &amp; business case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2940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internal teams, build certified practitioners and pilot improved products in a safe-to-fail environment.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2084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solutions + certified practitioners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35440" y="2103120"/>
            <a:ext cx="2560320" cy="4114800"/>
          </a:xfrm>
          <a:prstGeom prst="roundRect">
            <a:avLst>
              <a:gd name="adj" fmla="val 714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72600" y="2139696"/>
            <a:ext cx="22860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6404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6404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Scale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46404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proven interventions across the organisation. Measure impact rigorously. Build the case for scaling.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1832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EAF6F1">
              <a:alpha val="80000"/>
            </a:srgbClr>
          </a:solidFill>
          <a:ln w="6350">
            <a:solidFill>
              <a:srgbClr val="C5E8DC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55480" y="4937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555480" y="5166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impact + scaling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 of value.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3969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PRODUCT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diagnostic: zero measurement, bias audit, readiness rating (A-D). Fast, affordable, creates the business case for the next step.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213969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ENGAGEMENT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Trajectory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work across employee &amp; organisation, data, marketing, ecosystems and propositions. Menu-based: clients choose their modules.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33425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58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&amp; Certification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certify internal practitioners at Associate, Advisor and Fellow level. Builds lasting organisational capability.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512064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4334256"/>
            <a:ext cx="484632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&amp; Platform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51206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learning, tools, benchmarks. Year 2-3: digital layer with AI-assisted advisory. Scales without headcount.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 the Netherlands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011680"/>
            <a:ext cx="10698480" cy="4389120"/>
          </a:xfrm>
          <a:prstGeom prst="roundRect">
            <a:avLst>
              <a:gd name="adj" fmla="val 416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048256"/>
            <a:ext cx="1042416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Dutch bank with 200k+ retail clients. Wealth management arm underserving women clients who now control 52% of inherited assets.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B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designed for male clients. Female client attrition at 3x industry average after inheritance events. Estimated annual revenue loss: EUR 12M.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D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INTERVENTION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Scan (Day 1) revealed D-rating across propositions and marcom. Advisory trajectory redesigned 3 key products. Academy certified 24 internal practitioners.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D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44348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client retention improved 41%. New wealth product generated EUR 8.2M in first year. Bank became IFC Certified Gender Lab partner.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5669280"/>
            <a:ext cx="43434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5669280"/>
            <a:ext cx="43434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8448" y="5532120"/>
            <a:ext cx="182880" cy="182880"/>
          </a:xfrm>
          <a:prstGeom prst="ellipse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94048" y="5532120"/>
            <a:ext cx="182880" cy="182880"/>
          </a:xfrm>
          <a:prstGeom prst="ellipse">
            <a:avLst/>
          </a:prstGeom>
          <a:solidFill>
            <a:srgbClr val="F5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00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89648" y="5532120"/>
            <a:ext cx="182880" cy="182880"/>
          </a:xfrm>
          <a:prstGeom prst="ellipse">
            <a:avLst/>
          </a:prstGeom>
          <a:solidFill>
            <a:srgbClr val="F2D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56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985248" y="5532120"/>
            <a:ext cx="182880" cy="182880"/>
          </a:xfrm>
          <a:prstGeom prst="ellipse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5806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3B2E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3B2E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founders.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377440"/>
            <a:ext cx="1005840" cy="1005840"/>
          </a:xfrm>
          <a:prstGeom prst="ellipse">
            <a:avLst/>
          </a:prstGeom>
          <a:solidFill>
            <a:srgbClr val="6DC0C8">
              <a:alpha val="80000"/>
            </a:srgbClr>
          </a:solidFill>
          <a:ln w="19050">
            <a:solidFill>
              <a:srgbClr val="F5B89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Chantal Korteweg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Expert &amp; External Relations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Internationally recognised expert. Network spanning ministers, royalty and C-suite executives. Leads the methodology and World Bank relationship across 60 countries.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2377440"/>
            <a:ext cx="1005840" cy="1005840"/>
          </a:xfrm>
          <a:prstGeom prst="ellipse">
            <a:avLst/>
          </a:prstGeom>
          <a:solidFill>
            <a:srgbClr val="F5B896">
              <a:alpha val="80000"/>
            </a:srgbClr>
          </a:solidFill>
          <a:ln w="19050">
            <a:solidFill>
              <a:srgbClr val="F2D08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 Jacobs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Delivery &amp; Learning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academy founder, learning design and HR capability expert. Leads service design, the academy, certification and client delivery quality.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0" y="2103120"/>
            <a:ext cx="3474720" cy="4114800"/>
          </a:xfrm>
          <a:prstGeom prst="roundRect">
            <a:avLst>
              <a:gd name="adj" fmla="val 526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279400" dist="127000" dir="5400000">
              <a:srgbClr val="2A504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49640" y="2139696"/>
            <a:ext cx="3200400" cy="228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2377440"/>
            <a:ext cx="1005840" cy="1005840"/>
          </a:xfrm>
          <a:prstGeom prst="ellipse">
            <a:avLst/>
          </a:prstGeom>
          <a:solidFill>
            <a:srgbClr val="F2D080">
              <a:alpha val="80000"/>
            </a:srgbClr>
          </a:solidFill>
          <a:ln w="19050">
            <a:solidFill>
              <a:srgbClr val="9FD4B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46920" y="2423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van Waveren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Commercial &amp; Marketing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2976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D3B2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and commercial engine. Leads the pitch, prospect development, brand identity and commercial conversion.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3200400"/>
            <a:ext cx="8229600" cy="8229600"/>
          </a:xfrm>
          <a:prstGeom prst="ellipse">
            <a:avLst/>
          </a:prstGeom>
          <a:solidFill>
            <a:srgbClr val="6DC0C8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200400"/>
            <a:ext cx="8229600" cy="8229600"/>
          </a:xfrm>
          <a:prstGeom prst="ellipse">
            <a:avLst/>
          </a:prstGeom>
          <a:solidFill>
            <a:srgbClr val="F5B896">
              <a:alpha val="2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8229600" cy="8229600"/>
          </a:xfrm>
          <a:prstGeom prst="ellipse">
            <a:avLst/>
          </a:prstGeom>
          <a:solidFill>
            <a:srgbClr val="F2D080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200400" y="2286000"/>
            <a:ext cx="8229600" cy="8229600"/>
          </a:xfrm>
          <a:prstGeom prst="ellipse">
            <a:avLst/>
          </a:prstGeom>
          <a:solidFill>
            <a:srgbClr val="9FD4B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57200"/>
            <a:ext cx="2011680" cy="2011680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389120"/>
            <a:ext cx="2011680" cy="201168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89120"/>
            <a:ext cx="1828800" cy="18288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women inheriting the world’s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0D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need firms that 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6D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them.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B2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that firm. And we move now.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6DC0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2286000" cy="36576"/>
          </a:xfrm>
          <a:prstGeom prst="rect">
            <a:avLst/>
          </a:prstGeom>
          <a:solidFill>
            <a:srgbClr val="9FD4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2E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  ·  The Inclusive Finance Collective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2026-04-15T10:15:19Z</dcterms:created>
  <dcterms:modified xsi:type="dcterms:W3CDTF">2026-04-15T10:15:19Z</dcterms:modified>
</cp:coreProperties>
</file>