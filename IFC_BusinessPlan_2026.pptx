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ISM">
    <p:bg>
      <p:bgPr>
        <a:solidFill>
          <a:srgbClr val="EAF6F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Business Plan · 2026</a:t>
            </a:r>
            <a:endParaRPr lang="en-US" sz="900" dirty="0"/>
          </a:p>
        </p:txBody>
      </p:sp>
      <p:sp>
        <p:nvSpPr>
          <p:cNvPr id="12" name="Text 10"/>
          <p:cNvSpPr/>
          <p:nvPr/>
        </p:nvSpPr>
        <p:spPr>
          <a:xfrm>
            <a:off x="731520" y="1097280"/>
            <a:ext cx="10058400" cy="274320"/>
          </a:xfrm>
          <a:prstGeom prst="rect">
            <a:avLst/>
          </a:prstGeom>
          <a:noFill/>
          <a:ln/>
        </p:spPr>
        <p:txBody>
          <a:bodyPr wrap="square" rtlCol="0" anchor="ctr"/>
          <a:lstStyle/>
          <a:p>
            <a:pPr indent="0" marL="0">
              <a:buNone/>
            </a:pPr>
            <a:r>
              <a:rPr lang="en-US" sz="900" b="1" spc="400" kern="0" dirty="0">
                <a:solidFill>
                  <a:srgbClr val="0D3B2E">
                    <a:alpha val="45000"/>
                  </a:srgbClr>
                </a:solidFill>
                <a:latin typeface="Arial" pitchFamily="34" charset="0"/>
                <a:ea typeface="Arial" pitchFamily="34" charset="-122"/>
                <a:cs typeface="Arial" pitchFamily="34" charset="-120"/>
              </a:rPr>
              <a:t>INCLUSIVE FINANCE COLLECTIVE · BUSINESS PLAN 2026</a:t>
            </a:r>
            <a:endParaRPr lang="en-US" sz="900" dirty="0"/>
          </a:p>
        </p:txBody>
      </p:sp>
      <p:sp>
        <p:nvSpPr>
          <p:cNvPr id="13" name="Text 11"/>
          <p:cNvSpPr/>
          <p:nvPr/>
        </p:nvSpPr>
        <p:spPr>
          <a:xfrm>
            <a:off x="731520" y="1554480"/>
            <a:ext cx="10789920" cy="3474720"/>
          </a:xfrm>
          <a:prstGeom prst="rect">
            <a:avLst/>
          </a:prstGeom>
          <a:noFill/>
          <a:ln/>
        </p:spPr>
        <p:txBody>
          <a:bodyPr wrap="square" rtlCol="0" anchor="t"/>
          <a:lstStyle/>
          <a:p>
            <a:pPr indent="0" marL="0">
              <a:buNone/>
            </a:pPr>
            <a:r>
              <a:rPr lang="en-US" sz="3200" b="1" dirty="0">
                <a:solidFill>
                  <a:srgbClr val="0D3B2E"/>
                </a:solidFill>
                <a:latin typeface="Arial" pitchFamily="34" charset="0"/>
                <a:ea typeface="Arial" pitchFamily="34" charset="-122"/>
                <a:cs typeface="Arial" pitchFamily="34" charset="-120"/>
              </a:rPr>
              <a:t>Women are reshaping the economy — as </a:t>
            </a:r>
            <a:pPr indent="0" marL="0">
              <a:buNone/>
            </a:pPr>
            <a:r>
              <a:rPr lang="en-US" sz="3200" b="1" dirty="0">
                <a:solidFill>
                  <a:srgbClr val="6DC0C8"/>
                </a:solidFill>
                <a:latin typeface="Arial" pitchFamily="34" charset="0"/>
                <a:ea typeface="Arial" pitchFamily="34" charset="-122"/>
                <a:cs typeface="Arial" pitchFamily="34" charset="-120"/>
              </a:rPr>
              <a:t>entrepreneurs, earners</a:t>
            </a:r>
            <a:endParaRPr lang="en-US" sz="3200" dirty="0"/>
          </a:p>
          <a:p>
            <a:pPr indent="0" marL="0">
              <a:buNone/>
            </a:pPr>
            <a:r>
              <a:rPr lang="en-US" sz="3200" b="1" dirty="0">
                <a:solidFill>
                  <a:srgbClr val="6DC0C8"/>
                </a:solidFill>
                <a:latin typeface="Arial" pitchFamily="34" charset="0"/>
                <a:ea typeface="Arial" pitchFamily="34" charset="-122"/>
                <a:cs typeface="Arial" pitchFamily="34" charset="-120"/>
              </a:rPr>
              <a:t>and wealth owners.</a:t>
            </a:r>
            <a:endParaRPr lang="en-US" sz="3200" dirty="0"/>
          </a:p>
          <a:p>
            <a:pPr indent="0" marL="0">
              <a:lnSpc>
                <a:spcPts val="4200"/>
              </a:lnSpc>
              <a:buNone/>
            </a:pPr>
            <a:endParaRPr lang="en-US" sz="3200" dirty="0"/>
          </a:p>
          <a:p>
            <a:pPr indent="0" marL="0">
              <a:lnSpc>
                <a:spcPts val="4200"/>
              </a:lnSpc>
              <a:buNone/>
            </a:pPr>
            <a:r>
              <a:rPr lang="en-US" sz="3200" b="1" dirty="0">
                <a:solidFill>
                  <a:srgbClr val="0D3B2E"/>
                </a:solidFill>
                <a:latin typeface="Arial" pitchFamily="34" charset="0"/>
                <a:ea typeface="Arial" pitchFamily="34" charset="-122"/>
                <a:cs typeface="Arial" pitchFamily="34" charset="-120"/>
              </a:rPr>
              <a:t>The financial industry hasn't caught up.</a:t>
            </a:r>
            <a:endParaRPr lang="en-US" sz="3200" dirty="0"/>
          </a:p>
          <a:p>
            <a:pPr indent="0" marL="0">
              <a:lnSpc>
                <a:spcPts val="4200"/>
              </a:lnSpc>
              <a:buNone/>
            </a:pPr>
            <a:r>
              <a:rPr lang="en-US" sz="3200" b="1" dirty="0">
                <a:solidFill>
                  <a:srgbClr val="0D3B2E"/>
                </a:solidFill>
                <a:latin typeface="Arial" pitchFamily="34" charset="0"/>
                <a:ea typeface="Arial" pitchFamily="34" charset="-122"/>
                <a:cs typeface="Arial" pitchFamily="34" charset="-120"/>
              </a:rPr>
              <a:t>The blind spots are the business case.</a:t>
            </a:r>
            <a:endParaRPr lang="en-US" sz="3200" dirty="0"/>
          </a:p>
        </p:txBody>
      </p:sp>
      <p:sp>
        <p:nvSpPr>
          <p:cNvPr id="14" name="Shape 12"/>
          <p:cNvSpPr/>
          <p:nvPr/>
        </p:nvSpPr>
        <p:spPr>
          <a:xfrm>
            <a:off x="731520" y="5212080"/>
            <a:ext cx="2240280" cy="27432"/>
          </a:xfrm>
          <a:prstGeom prst="rect">
            <a:avLst/>
          </a:prstGeom>
          <a:solidFill>
            <a:srgbClr val="0D3B2E"/>
          </a:solidFill>
          <a:ln w="12700">
            <a:solidFill>
              <a:srgbClr val="333333"/>
            </a:solidFill>
            <a:prstDash val="solid"/>
          </a:ln>
        </p:spPr>
      </p:sp>
      <p:sp>
        <p:nvSpPr>
          <p:cNvPr id="15" name="Shape 13"/>
          <p:cNvSpPr/>
          <p:nvPr/>
        </p:nvSpPr>
        <p:spPr>
          <a:xfrm>
            <a:off x="2971800" y="5102352"/>
            <a:ext cx="4160520" cy="22860"/>
          </a:xfrm>
          <a:prstGeom prst="rect">
            <a:avLst/>
          </a:prstGeom>
          <a:solidFill>
            <a:srgbClr val="6DC0C8"/>
          </a:solidFill>
          <a:ln w="12700">
            <a:solidFill>
              <a:srgbClr val="333333"/>
            </a:solidFill>
            <a:prstDash val="solid"/>
          </a:ln>
        </p:spPr>
      </p:sp>
      <p:sp>
        <p:nvSpPr>
          <p:cNvPr id="16" name="Shape 14"/>
          <p:cNvSpPr/>
          <p:nvPr/>
        </p:nvSpPr>
        <p:spPr>
          <a:xfrm>
            <a:off x="2971800" y="5175504"/>
            <a:ext cx="4160520" cy="22860"/>
          </a:xfrm>
          <a:prstGeom prst="rect">
            <a:avLst/>
          </a:prstGeom>
          <a:solidFill>
            <a:srgbClr val="F5B896"/>
          </a:solidFill>
          <a:ln w="12700">
            <a:solidFill>
              <a:srgbClr val="333333"/>
            </a:solidFill>
            <a:prstDash val="solid"/>
          </a:ln>
        </p:spPr>
      </p:sp>
      <p:sp>
        <p:nvSpPr>
          <p:cNvPr id="17" name="Shape 15"/>
          <p:cNvSpPr/>
          <p:nvPr/>
        </p:nvSpPr>
        <p:spPr>
          <a:xfrm>
            <a:off x="2971800" y="5248656"/>
            <a:ext cx="4160520" cy="22860"/>
          </a:xfrm>
          <a:prstGeom prst="rect">
            <a:avLst/>
          </a:prstGeom>
          <a:solidFill>
            <a:srgbClr val="F2D080"/>
          </a:solidFill>
          <a:ln w="12700">
            <a:solidFill>
              <a:srgbClr val="333333"/>
            </a:solidFill>
            <a:prstDash val="solid"/>
          </a:ln>
        </p:spPr>
      </p:sp>
      <p:sp>
        <p:nvSpPr>
          <p:cNvPr id="18" name="Shape 16"/>
          <p:cNvSpPr/>
          <p:nvPr/>
        </p:nvSpPr>
        <p:spPr>
          <a:xfrm>
            <a:off x="2971800" y="5321808"/>
            <a:ext cx="4160520" cy="22860"/>
          </a:xfrm>
          <a:prstGeom prst="rect">
            <a:avLst/>
          </a:prstGeom>
          <a:solidFill>
            <a:srgbClr val="9FD4B0"/>
          </a:solidFill>
          <a:ln w="12700">
            <a:solidFill>
              <a:srgbClr val="333333"/>
            </a:solidFill>
            <a:prstDash val="solid"/>
          </a:ln>
        </p:spPr>
      </p:sp>
      <p:sp>
        <p:nvSpPr>
          <p:cNvPr id="19" name="Text 17"/>
          <p:cNvSpPr/>
          <p:nvPr/>
        </p:nvSpPr>
        <p:spPr>
          <a:xfrm>
            <a:off x="731520" y="5577840"/>
            <a:ext cx="9144000" cy="914400"/>
          </a:xfrm>
          <a:prstGeom prst="rect">
            <a:avLst/>
          </a:prstGeom>
          <a:noFill/>
          <a:ln/>
        </p:spPr>
        <p:txBody>
          <a:bodyPr wrap="square" rtlCol="0" anchor="ctr"/>
          <a:lstStyle/>
          <a:p>
            <a:pPr indent="0" marL="0">
              <a:lnSpc>
                <a:spcPts val="1700"/>
              </a:lnSpc>
              <a:buNone/>
            </a:pPr>
            <a:r>
              <a:rPr lang="en-US" sz="1100" dirty="0">
                <a:solidFill>
                  <a:srgbClr val="0D3B2E">
                    <a:alpha val="70000"/>
                  </a:srgbClr>
                </a:solidFill>
                <a:latin typeface="Arial" pitchFamily="34" charset="0"/>
                <a:ea typeface="Arial" pitchFamily="34" charset="-122"/>
                <a:cs typeface="Arial" pitchFamily="34" charset="-120"/>
              </a:rPr>
              <a:t>Women's position in the economy has shifted across entrepreneurship, career and wealth ownership — and the legacy FS playbook wasn't built for any of it. This plan turns those blind spots into revenue: methodology, revenue architecture, go-to-market and the 90-day sprint.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01 · Executive Summary</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01 · EXECUTIVE SUMMARY</a:t>
            </a:r>
            <a:endParaRPr lang="en-US" sz="800" dirty="0"/>
          </a:p>
        </p:txBody>
      </p:sp>
      <p:sp>
        <p:nvSpPr>
          <p:cNvPr id="13" name="Text 11"/>
          <p:cNvSpPr/>
          <p:nvPr/>
        </p:nvSpPr>
        <p:spPr>
          <a:xfrm>
            <a:off x="731520" y="1188720"/>
            <a:ext cx="10058400" cy="822960"/>
          </a:xfrm>
          <a:prstGeom prst="rect">
            <a:avLst/>
          </a:prstGeom>
          <a:noFill/>
          <a:ln/>
        </p:spPr>
        <p:txBody>
          <a:bodyPr wrap="square" rtlCol="0" anchor="ctr"/>
          <a:lstStyle/>
          <a:p>
            <a:pPr indent="0" marL="0">
              <a:lnSpc>
                <a:spcPts val="2800"/>
              </a:lnSpc>
              <a:buNone/>
            </a:pPr>
            <a:r>
              <a:rPr lang="en-US" sz="2200" b="1" dirty="0">
                <a:solidFill>
                  <a:srgbClr val="0D3B2E"/>
                </a:solidFill>
                <a:latin typeface="Arial" pitchFamily="34" charset="0"/>
                <a:ea typeface="Arial" pitchFamily="34" charset="-122"/>
                <a:cs typeface="Arial" pitchFamily="34" charset="-120"/>
              </a:rPr>
              <a:t>A business performance firm for the blind spots banks can't afford to keep.</a:t>
            </a:r>
            <a:endParaRPr lang="en-US" sz="2200" dirty="0"/>
          </a:p>
        </p:txBody>
      </p:sp>
      <p:sp>
        <p:nvSpPr>
          <p:cNvPr id="14" name="Text 12"/>
          <p:cNvSpPr/>
          <p:nvPr/>
        </p:nvSpPr>
        <p:spPr>
          <a:xfrm>
            <a:off x="731520" y="2011680"/>
            <a:ext cx="10515600" cy="822960"/>
          </a:xfrm>
          <a:prstGeom prst="rect">
            <a:avLst/>
          </a:prstGeom>
          <a:noFill/>
          <a:ln/>
        </p:spPr>
        <p:txBody>
          <a:bodyPr wrap="square" rtlCol="0" anchor="ctr"/>
          <a:lstStyle/>
          <a:p>
            <a:pPr indent="0" marL="0">
              <a:lnSpc>
                <a:spcPts val="1700"/>
              </a:lnSpc>
              <a:buNone/>
            </a:pPr>
            <a:r>
              <a:rPr lang="en-US" sz="1100" dirty="0">
                <a:solidFill>
                  <a:srgbClr val="0D3B2E">
                    <a:alpha val="68000"/>
                  </a:srgbClr>
                </a:solidFill>
                <a:latin typeface="Arial" pitchFamily="34" charset="0"/>
                <a:ea typeface="Arial" pitchFamily="34" charset="-122"/>
                <a:cs typeface="Arial" pitchFamily="34" charset="-120"/>
              </a:rPr>
              <a:t>IFC is a science-based inclusion consultancy for financial institutions. We are not DEI. We are not HR. We help banks, wealth managers and insurers convert underserved women and diverse client segments into measurable revenue — with a fact-based methodology, a 60-country delivery network, and the most influential founder bench in the category.</a:t>
            </a:r>
            <a:endParaRPr lang="en-US" sz="1100" dirty="0"/>
          </a:p>
        </p:txBody>
      </p:sp>
      <p:sp>
        <p:nvSpPr>
          <p:cNvPr id="15" name="Shape 13"/>
          <p:cNvSpPr/>
          <p:nvPr/>
        </p:nvSpPr>
        <p:spPr>
          <a:xfrm>
            <a:off x="731520" y="2971800"/>
            <a:ext cx="26060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6" name="Shape 14"/>
          <p:cNvSpPr/>
          <p:nvPr/>
        </p:nvSpPr>
        <p:spPr>
          <a:xfrm>
            <a:off x="868680" y="3008376"/>
            <a:ext cx="2331720" cy="22860"/>
          </a:xfrm>
          <a:prstGeom prst="rect">
            <a:avLst/>
          </a:prstGeom>
          <a:solidFill>
            <a:srgbClr val="FFFFFF">
              <a:alpha val="90000"/>
            </a:srgbClr>
          </a:solidFill>
          <a:ln w="12700">
            <a:solidFill>
              <a:srgbClr val="333333"/>
            </a:solidFill>
            <a:prstDash val="solid"/>
          </a:ln>
        </p:spPr>
      </p:sp>
      <p:sp>
        <p:nvSpPr>
          <p:cNvPr id="17" name="Text 15"/>
          <p:cNvSpPr/>
          <p:nvPr/>
        </p:nvSpPr>
        <p:spPr>
          <a:xfrm>
            <a:off x="96012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MANDATE</a:t>
            </a:r>
            <a:endParaRPr lang="en-US" sz="800" dirty="0"/>
          </a:p>
        </p:txBody>
      </p:sp>
      <p:sp>
        <p:nvSpPr>
          <p:cNvPr id="18" name="Text 16"/>
          <p:cNvSpPr/>
          <p:nvPr/>
        </p:nvSpPr>
        <p:spPr>
          <a:xfrm>
            <a:off x="96012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60</a:t>
            </a:r>
            <a:endParaRPr lang="en-US" sz="3400" dirty="0"/>
          </a:p>
        </p:txBody>
      </p:sp>
      <p:sp>
        <p:nvSpPr>
          <p:cNvPr id="19" name="Text 17"/>
          <p:cNvSpPr/>
          <p:nvPr/>
        </p:nvSpPr>
        <p:spPr>
          <a:xfrm>
            <a:off x="96012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Countries covered by the World Bank implementation mandate over four years.</a:t>
            </a:r>
            <a:endParaRPr lang="en-US" sz="950" dirty="0"/>
          </a:p>
        </p:txBody>
      </p:sp>
      <p:sp>
        <p:nvSpPr>
          <p:cNvPr id="20" name="Shape 18"/>
          <p:cNvSpPr/>
          <p:nvPr/>
        </p:nvSpPr>
        <p:spPr>
          <a:xfrm>
            <a:off x="3520440" y="2971800"/>
            <a:ext cx="26060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1" name="Shape 19"/>
          <p:cNvSpPr/>
          <p:nvPr/>
        </p:nvSpPr>
        <p:spPr>
          <a:xfrm>
            <a:off x="3657600" y="3008376"/>
            <a:ext cx="2331720" cy="22860"/>
          </a:xfrm>
          <a:prstGeom prst="rect">
            <a:avLst/>
          </a:prstGeom>
          <a:solidFill>
            <a:srgbClr val="FFFFFF">
              <a:alpha val="90000"/>
            </a:srgbClr>
          </a:solidFill>
          <a:ln w="12700">
            <a:solidFill>
              <a:srgbClr val="333333"/>
            </a:solidFill>
            <a:prstDash val="solid"/>
          </a:ln>
        </p:spPr>
      </p:sp>
      <p:sp>
        <p:nvSpPr>
          <p:cNvPr id="22" name="Text 20"/>
          <p:cNvSpPr/>
          <p:nvPr/>
        </p:nvSpPr>
        <p:spPr>
          <a:xfrm>
            <a:off x="374904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MARKET</a:t>
            </a:r>
            <a:endParaRPr lang="en-US" sz="800" dirty="0"/>
          </a:p>
        </p:txBody>
      </p:sp>
      <p:sp>
        <p:nvSpPr>
          <p:cNvPr id="23" name="Text 21"/>
          <p:cNvSpPr/>
          <p:nvPr/>
        </p:nvSpPr>
        <p:spPr>
          <a:xfrm>
            <a:off x="374904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50%+</a:t>
            </a:r>
            <a:endParaRPr lang="en-US" sz="3400" dirty="0"/>
          </a:p>
        </p:txBody>
      </p:sp>
      <p:sp>
        <p:nvSpPr>
          <p:cNvPr id="24" name="Text 22"/>
          <p:cNvSpPr/>
          <p:nvPr/>
        </p:nvSpPr>
        <p:spPr>
          <a:xfrm>
            <a:off x="374904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Share of European wealth now controlled by women — one of several blind spots, alongside entrepreneurship and senior careers.</a:t>
            </a:r>
            <a:endParaRPr lang="en-US" sz="950" dirty="0"/>
          </a:p>
        </p:txBody>
      </p:sp>
      <p:sp>
        <p:nvSpPr>
          <p:cNvPr id="25" name="Shape 23"/>
          <p:cNvSpPr/>
          <p:nvPr/>
        </p:nvSpPr>
        <p:spPr>
          <a:xfrm>
            <a:off x="6309360" y="2971800"/>
            <a:ext cx="26060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6" name="Shape 24"/>
          <p:cNvSpPr/>
          <p:nvPr/>
        </p:nvSpPr>
        <p:spPr>
          <a:xfrm>
            <a:off x="6446520" y="3008376"/>
            <a:ext cx="2331720" cy="22860"/>
          </a:xfrm>
          <a:prstGeom prst="rect">
            <a:avLst/>
          </a:prstGeom>
          <a:solidFill>
            <a:srgbClr val="FFFFFF">
              <a:alpha val="90000"/>
            </a:srgbClr>
          </a:solidFill>
          <a:ln w="12700">
            <a:solidFill>
              <a:srgbClr val="333333"/>
            </a:solidFill>
            <a:prstDash val="solid"/>
          </a:ln>
        </p:spPr>
      </p:sp>
      <p:sp>
        <p:nvSpPr>
          <p:cNvPr id="27" name="Text 25"/>
          <p:cNvSpPr/>
          <p:nvPr/>
        </p:nvSpPr>
        <p:spPr>
          <a:xfrm>
            <a:off x="653796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FOCUS</a:t>
            </a:r>
            <a:endParaRPr lang="en-US" sz="800" dirty="0"/>
          </a:p>
        </p:txBody>
      </p:sp>
      <p:sp>
        <p:nvSpPr>
          <p:cNvPr id="28" name="Text 26"/>
          <p:cNvSpPr/>
          <p:nvPr/>
        </p:nvSpPr>
        <p:spPr>
          <a:xfrm>
            <a:off x="653796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FS</a:t>
            </a:r>
            <a:endParaRPr lang="en-US" sz="3400" dirty="0"/>
          </a:p>
        </p:txBody>
      </p:sp>
      <p:sp>
        <p:nvSpPr>
          <p:cNvPr id="29" name="Text 27"/>
          <p:cNvSpPr/>
          <p:nvPr/>
        </p:nvSpPr>
        <p:spPr>
          <a:xfrm>
            <a:off x="653796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Banks, asset managers, insurers, intermediaries. Narrow by design.</a:t>
            </a:r>
            <a:endParaRPr lang="en-US" sz="950" dirty="0"/>
          </a:p>
        </p:txBody>
      </p:sp>
      <p:sp>
        <p:nvSpPr>
          <p:cNvPr id="30" name="Shape 28"/>
          <p:cNvSpPr/>
          <p:nvPr/>
        </p:nvSpPr>
        <p:spPr>
          <a:xfrm>
            <a:off x="9098280" y="2971800"/>
            <a:ext cx="26060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1" name="Shape 29"/>
          <p:cNvSpPr/>
          <p:nvPr/>
        </p:nvSpPr>
        <p:spPr>
          <a:xfrm>
            <a:off x="9235440" y="3008376"/>
            <a:ext cx="2331720" cy="22860"/>
          </a:xfrm>
          <a:prstGeom prst="rect">
            <a:avLst/>
          </a:prstGeom>
          <a:solidFill>
            <a:srgbClr val="FFFFFF">
              <a:alpha val="90000"/>
            </a:srgbClr>
          </a:solidFill>
          <a:ln w="12700">
            <a:solidFill>
              <a:srgbClr val="333333"/>
            </a:solidFill>
            <a:prstDash val="solid"/>
          </a:ln>
        </p:spPr>
      </p:sp>
      <p:sp>
        <p:nvSpPr>
          <p:cNvPr id="32" name="Text 30"/>
          <p:cNvSpPr/>
          <p:nvPr/>
        </p:nvSpPr>
        <p:spPr>
          <a:xfrm>
            <a:off x="932688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YEAR 3</a:t>
            </a:r>
            <a:endParaRPr lang="en-US" sz="800" dirty="0"/>
          </a:p>
        </p:txBody>
      </p:sp>
      <p:sp>
        <p:nvSpPr>
          <p:cNvPr id="33" name="Text 31"/>
          <p:cNvSpPr/>
          <p:nvPr/>
        </p:nvSpPr>
        <p:spPr>
          <a:xfrm>
            <a:off x="932688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50%</a:t>
            </a:r>
            <a:endParaRPr lang="en-US" sz="3400" dirty="0"/>
          </a:p>
        </p:txBody>
      </p:sp>
      <p:sp>
        <p:nvSpPr>
          <p:cNvPr id="34" name="Text 32"/>
          <p:cNvSpPr/>
          <p:nvPr/>
        </p:nvSpPr>
        <p:spPr>
          <a:xfrm>
            <a:off x="932688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Match founder pre-IFC salaries at half the time while building the leading gender-lens finance network.</a:t>
            </a:r>
            <a:endParaRPr lang="en-US" sz="950" dirty="0"/>
          </a:p>
        </p:txBody>
      </p:sp>
      <p:sp>
        <p:nvSpPr>
          <p:cNvPr id="35" name="Shape 33"/>
          <p:cNvSpPr/>
          <p:nvPr/>
        </p:nvSpPr>
        <p:spPr>
          <a:xfrm>
            <a:off x="731520" y="5303520"/>
            <a:ext cx="10698480" cy="1234440"/>
          </a:xfrm>
          <a:prstGeom prst="roundRect">
            <a:avLst>
              <a:gd name="adj" fmla="val 1481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6" name="Shape 34"/>
          <p:cNvSpPr/>
          <p:nvPr/>
        </p:nvSpPr>
        <p:spPr>
          <a:xfrm>
            <a:off x="868680" y="5340096"/>
            <a:ext cx="10424160" cy="22860"/>
          </a:xfrm>
          <a:prstGeom prst="rect">
            <a:avLst/>
          </a:prstGeom>
          <a:solidFill>
            <a:srgbClr val="FFFFFF">
              <a:alpha val="90000"/>
            </a:srgbClr>
          </a:solidFill>
          <a:ln w="12700">
            <a:solidFill>
              <a:srgbClr val="333333"/>
            </a:solidFill>
            <a:prstDash val="solid"/>
          </a:ln>
        </p:spPr>
      </p:sp>
      <p:sp>
        <p:nvSpPr>
          <p:cNvPr id="37" name="Text 35"/>
          <p:cNvSpPr/>
          <p:nvPr/>
        </p:nvSpPr>
        <p:spPr>
          <a:xfrm>
            <a:off x="914400" y="5376672"/>
            <a:ext cx="5486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THE PLAN IN ONE PARAGRAPH</a:t>
            </a:r>
            <a:endParaRPr lang="en-US" sz="800" dirty="0"/>
          </a:p>
        </p:txBody>
      </p:sp>
      <p:sp>
        <p:nvSpPr>
          <p:cNvPr id="38" name="Text 36"/>
          <p:cNvSpPr/>
          <p:nvPr/>
        </p:nvSpPr>
        <p:spPr>
          <a:xfrm>
            <a:off x="914400" y="5669280"/>
            <a:ext cx="10332720" cy="822960"/>
          </a:xfrm>
          <a:prstGeom prst="rect">
            <a:avLst/>
          </a:prstGeom>
          <a:noFill/>
          <a:ln/>
        </p:spPr>
        <p:txBody>
          <a:bodyPr wrap="square" rtlCol="0" anchor="t"/>
          <a:lstStyle/>
          <a:p>
            <a:pPr indent="0" marL="0">
              <a:lnSpc>
                <a:spcPts val="1500"/>
              </a:lnSpc>
              <a:buNone/>
            </a:pPr>
            <a:r>
              <a:rPr lang="en-US" sz="1000" dirty="0">
                <a:solidFill>
                  <a:srgbClr val="0D3B2E">
                    <a:alpha val="80000"/>
                  </a:srgbClr>
                </a:solidFill>
                <a:latin typeface="Arial" pitchFamily="34" charset="0"/>
                <a:ea typeface="Arial" pitchFamily="34" charset="-122"/>
                <a:cs typeface="Arial" pitchFamily="34" charset="-120"/>
              </a:rPr>
              <a:t>Name and quantify the blind spots the legacy FS playbook was not built for — across women as entrepreneurs, earners and wealth owners. Use the founders' networks as the fastest path to enterprise decision-makers and the 60-country World Bank mandate as proof of scale. The Gender Capital Lab™ methodology delivers advisory, academy, membership and platform revenue. In 90 days: publish the business case, book five corporate pilots, sign the first paying client.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02 · Why Now</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02 · WHY NOW</a:t>
            </a:r>
            <a:endParaRPr lang="en-US" sz="800" dirty="0"/>
          </a:p>
        </p:txBody>
      </p:sp>
      <p:sp>
        <p:nvSpPr>
          <p:cNvPr id="13" name="Text 11"/>
          <p:cNvSpPr/>
          <p:nvPr/>
        </p:nvSpPr>
        <p:spPr>
          <a:xfrm>
            <a:off x="731520" y="1188720"/>
            <a:ext cx="100584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The women's economy has shifted. Banks haven't.</a:t>
            </a:r>
            <a:endParaRPr lang="en-US" sz="2200" dirty="0"/>
          </a:p>
        </p:txBody>
      </p:sp>
      <p:sp>
        <p:nvSpPr>
          <p:cNvPr id="14" name="Text 12"/>
          <p:cNvSpPr/>
          <p:nvPr/>
        </p:nvSpPr>
        <p:spPr>
          <a:xfrm>
            <a:off x="731520" y="1828800"/>
            <a:ext cx="100584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Four blind spots the legacy FS playbook was not built for. Each one is measurable, underserved, and a board-level revenue question.</a:t>
            </a:r>
            <a:endParaRPr lang="en-US" sz="1100" dirty="0"/>
          </a:p>
        </p:txBody>
      </p:sp>
      <p:sp>
        <p:nvSpPr>
          <p:cNvPr id="15" name="Shape 13"/>
          <p:cNvSpPr/>
          <p:nvPr/>
        </p:nvSpPr>
        <p:spPr>
          <a:xfrm>
            <a:off x="731520" y="2651760"/>
            <a:ext cx="54864" cy="1691640"/>
          </a:xfrm>
          <a:prstGeom prst="rect">
            <a:avLst>
              <a:gd name="adj" fmla="val 50000"/>
            </a:avLst>
          </a:prstGeom>
          <a:solidFill>
            <a:srgbClr val="6DC0C8"/>
          </a:solidFill>
          <a:ln w="12700">
            <a:solidFill>
              <a:srgbClr val="333333"/>
            </a:solidFill>
            <a:prstDash val="solid"/>
          </a:ln>
        </p:spPr>
      </p:sp>
      <p:sp>
        <p:nvSpPr>
          <p:cNvPr id="16" name="Shape 14"/>
          <p:cNvSpPr/>
          <p:nvPr/>
        </p:nvSpPr>
        <p:spPr>
          <a:xfrm>
            <a:off x="841248" y="265176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7" name="Shape 15"/>
          <p:cNvSpPr/>
          <p:nvPr/>
        </p:nvSpPr>
        <p:spPr>
          <a:xfrm>
            <a:off x="978408" y="2688336"/>
            <a:ext cx="5074920" cy="22860"/>
          </a:xfrm>
          <a:prstGeom prst="rect">
            <a:avLst/>
          </a:prstGeom>
          <a:solidFill>
            <a:srgbClr val="FFFFFF">
              <a:alpha val="90000"/>
            </a:srgbClr>
          </a:solidFill>
          <a:ln w="12700">
            <a:solidFill>
              <a:srgbClr val="333333"/>
            </a:solidFill>
            <a:prstDash val="solid"/>
          </a:ln>
        </p:spPr>
      </p:sp>
      <p:sp>
        <p:nvSpPr>
          <p:cNvPr id="18" name="Text 16"/>
          <p:cNvSpPr/>
          <p:nvPr/>
        </p:nvSpPr>
        <p:spPr>
          <a:xfrm>
            <a:off x="109728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Women as Entrepreneurs</a:t>
            </a:r>
            <a:endParaRPr lang="en-US" sz="1300" dirty="0"/>
          </a:p>
        </p:txBody>
      </p:sp>
      <p:sp>
        <p:nvSpPr>
          <p:cNvPr id="19" name="Text 17"/>
          <p:cNvSpPr/>
          <p:nvPr/>
        </p:nvSpPr>
        <p:spPr>
          <a:xfrm>
            <a:off x="1097280" y="320040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Women are founding and scaling businesses at record rates — and meeting a funding, credit and advice gap legacy SME banking never closed. The women's business book is one of the fastest-growing FS segments globally, and one of the least understood.</a:t>
            </a:r>
            <a:endParaRPr lang="en-US" sz="1000" dirty="0"/>
          </a:p>
        </p:txBody>
      </p:sp>
      <p:sp>
        <p:nvSpPr>
          <p:cNvPr id="20" name="Shape 18"/>
          <p:cNvSpPr/>
          <p:nvPr/>
        </p:nvSpPr>
        <p:spPr>
          <a:xfrm>
            <a:off x="6309360" y="2651760"/>
            <a:ext cx="54864" cy="1691640"/>
          </a:xfrm>
          <a:prstGeom prst="rect">
            <a:avLst>
              <a:gd name="adj" fmla="val 50000"/>
            </a:avLst>
          </a:prstGeom>
          <a:solidFill>
            <a:srgbClr val="F5B896"/>
          </a:solidFill>
          <a:ln w="12700">
            <a:solidFill>
              <a:srgbClr val="333333"/>
            </a:solidFill>
            <a:prstDash val="solid"/>
          </a:ln>
        </p:spPr>
      </p:sp>
      <p:sp>
        <p:nvSpPr>
          <p:cNvPr id="21" name="Shape 19"/>
          <p:cNvSpPr/>
          <p:nvPr/>
        </p:nvSpPr>
        <p:spPr>
          <a:xfrm>
            <a:off x="6419088" y="265176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2" name="Shape 20"/>
          <p:cNvSpPr/>
          <p:nvPr/>
        </p:nvSpPr>
        <p:spPr>
          <a:xfrm>
            <a:off x="6556248" y="2688336"/>
            <a:ext cx="5074920" cy="22860"/>
          </a:xfrm>
          <a:prstGeom prst="rect">
            <a:avLst/>
          </a:prstGeom>
          <a:solidFill>
            <a:srgbClr val="FFFFFF">
              <a:alpha val="90000"/>
            </a:srgbClr>
          </a:solidFill>
          <a:ln w="12700">
            <a:solidFill>
              <a:srgbClr val="333333"/>
            </a:solidFill>
            <a:prstDash val="solid"/>
          </a:ln>
        </p:spPr>
      </p:sp>
      <p:sp>
        <p:nvSpPr>
          <p:cNvPr id="23" name="Text 21"/>
          <p:cNvSpPr/>
          <p:nvPr/>
        </p:nvSpPr>
        <p:spPr>
          <a:xfrm>
            <a:off x="667512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Women as Earners &amp; Professionals</a:t>
            </a:r>
            <a:endParaRPr lang="en-US" sz="1300" dirty="0"/>
          </a:p>
        </p:txBody>
      </p:sp>
      <p:sp>
        <p:nvSpPr>
          <p:cNvPr id="24" name="Text 22"/>
          <p:cNvSpPr/>
          <p:nvPr/>
        </p:nvSpPr>
        <p:spPr>
          <a:xfrm>
            <a:off x="6675120" y="320040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Senior careers, dual-income households and rising individual incomes are reshaping who the primary FS relationship is with. Advice journeys, product defaults and marcom are still calibrated to the previous client — and the attrition shows.</a:t>
            </a:r>
            <a:endParaRPr lang="en-US" sz="1000" dirty="0"/>
          </a:p>
        </p:txBody>
      </p:sp>
      <p:sp>
        <p:nvSpPr>
          <p:cNvPr id="25" name="Shape 23"/>
          <p:cNvSpPr/>
          <p:nvPr/>
        </p:nvSpPr>
        <p:spPr>
          <a:xfrm>
            <a:off x="731520" y="4572000"/>
            <a:ext cx="54864" cy="1691640"/>
          </a:xfrm>
          <a:prstGeom prst="rect">
            <a:avLst>
              <a:gd name="adj" fmla="val 50000"/>
            </a:avLst>
          </a:prstGeom>
          <a:solidFill>
            <a:srgbClr val="F2D080"/>
          </a:solidFill>
          <a:ln w="12700">
            <a:solidFill>
              <a:srgbClr val="333333"/>
            </a:solidFill>
            <a:prstDash val="solid"/>
          </a:ln>
        </p:spPr>
      </p:sp>
      <p:sp>
        <p:nvSpPr>
          <p:cNvPr id="26" name="Shape 24"/>
          <p:cNvSpPr/>
          <p:nvPr/>
        </p:nvSpPr>
        <p:spPr>
          <a:xfrm>
            <a:off x="841248" y="457200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7" name="Shape 25"/>
          <p:cNvSpPr/>
          <p:nvPr/>
        </p:nvSpPr>
        <p:spPr>
          <a:xfrm>
            <a:off x="978408" y="4608576"/>
            <a:ext cx="5074920" cy="22860"/>
          </a:xfrm>
          <a:prstGeom prst="rect">
            <a:avLst/>
          </a:prstGeom>
          <a:solidFill>
            <a:srgbClr val="FFFFFF">
              <a:alpha val="90000"/>
            </a:srgbClr>
          </a:solidFill>
          <a:ln w="12700">
            <a:solidFill>
              <a:srgbClr val="333333"/>
            </a:solidFill>
            <a:prstDash val="solid"/>
          </a:ln>
        </p:spPr>
      </p:sp>
      <p:sp>
        <p:nvSpPr>
          <p:cNvPr id="28" name="Text 26"/>
          <p:cNvSpPr/>
          <p:nvPr/>
        </p:nvSpPr>
        <p:spPr>
          <a:xfrm>
            <a:off x="1097280" y="47365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Women as Wealth Owners</a:t>
            </a:r>
            <a:endParaRPr lang="en-US" sz="1300" dirty="0"/>
          </a:p>
        </p:txBody>
      </p:sp>
      <p:sp>
        <p:nvSpPr>
          <p:cNvPr id="29" name="Text 27"/>
          <p:cNvSpPr/>
          <p:nvPr/>
        </p:nvSpPr>
        <p:spPr>
          <a:xfrm>
            <a:off x="1097280" y="512064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Personal wealth, co-ownership and the largest inheritance event in modern history — women already control 50%+ of European wealth and the share is accelerating. Most wealth managers have not restructured product, advice or onboarding to serve the actual owner.</a:t>
            </a:r>
            <a:endParaRPr lang="en-US" sz="1000" dirty="0"/>
          </a:p>
        </p:txBody>
      </p:sp>
      <p:sp>
        <p:nvSpPr>
          <p:cNvPr id="30" name="Shape 28"/>
          <p:cNvSpPr/>
          <p:nvPr/>
        </p:nvSpPr>
        <p:spPr>
          <a:xfrm>
            <a:off x="6309360" y="4572000"/>
            <a:ext cx="54864" cy="1691640"/>
          </a:xfrm>
          <a:prstGeom prst="rect">
            <a:avLst>
              <a:gd name="adj" fmla="val 50000"/>
            </a:avLst>
          </a:prstGeom>
          <a:solidFill>
            <a:srgbClr val="9FD4B0"/>
          </a:solidFill>
          <a:ln w="12700">
            <a:solidFill>
              <a:srgbClr val="333333"/>
            </a:solidFill>
            <a:prstDash val="solid"/>
          </a:ln>
        </p:spPr>
      </p:sp>
      <p:sp>
        <p:nvSpPr>
          <p:cNvPr id="31" name="Shape 29"/>
          <p:cNvSpPr/>
          <p:nvPr/>
        </p:nvSpPr>
        <p:spPr>
          <a:xfrm>
            <a:off x="6419088" y="457200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2" name="Shape 30"/>
          <p:cNvSpPr/>
          <p:nvPr/>
        </p:nvSpPr>
        <p:spPr>
          <a:xfrm>
            <a:off x="6556248" y="4608576"/>
            <a:ext cx="5074920" cy="22860"/>
          </a:xfrm>
          <a:prstGeom prst="rect">
            <a:avLst/>
          </a:prstGeom>
          <a:solidFill>
            <a:srgbClr val="FFFFFF">
              <a:alpha val="90000"/>
            </a:srgbClr>
          </a:solidFill>
          <a:ln w="12700">
            <a:solidFill>
              <a:srgbClr val="333333"/>
            </a:solidFill>
            <a:prstDash val="solid"/>
          </a:ln>
        </p:spPr>
      </p:sp>
      <p:sp>
        <p:nvSpPr>
          <p:cNvPr id="33" name="Text 31"/>
          <p:cNvSpPr/>
          <p:nvPr/>
        </p:nvSpPr>
        <p:spPr>
          <a:xfrm>
            <a:off x="6675120" y="47365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Legacy Blind Spots Cost Revenue</a:t>
            </a:r>
            <a:endParaRPr lang="en-US" sz="1300" dirty="0"/>
          </a:p>
        </p:txBody>
      </p:sp>
      <p:sp>
        <p:nvSpPr>
          <p:cNvPr id="34" name="Text 32"/>
          <p:cNvSpPr/>
          <p:nvPr/>
        </p:nvSpPr>
        <p:spPr>
          <a:xfrm>
            <a:off x="6675120" y="512064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Products, funnels, marcom and advice built for the previous client. Each blind spot is quantifiable: lost share of wallet, lower retention, NPS drag, reputation cost. What gets measured gets closed — and that is where we start.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03 · Who We Are</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03 · WHO WE ARE</a:t>
            </a:r>
            <a:endParaRPr lang="en-US" sz="800" dirty="0"/>
          </a:p>
        </p:txBody>
      </p:sp>
      <p:sp>
        <p:nvSpPr>
          <p:cNvPr id="13" name="Text 11"/>
          <p:cNvSpPr/>
          <p:nvPr/>
        </p:nvSpPr>
        <p:spPr>
          <a:xfrm>
            <a:off x="731520" y="1188720"/>
            <a:ext cx="100584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 business performance firm. Not a values campaign.</a:t>
            </a:r>
            <a:endParaRPr lang="en-US" sz="2200" dirty="0"/>
          </a:p>
        </p:txBody>
      </p:sp>
      <p:sp>
        <p:nvSpPr>
          <p:cNvPr id="14" name="Text 12"/>
          <p:cNvSpPr/>
          <p:nvPr/>
        </p:nvSpPr>
        <p:spPr>
          <a:xfrm>
            <a:off x="731520" y="1828800"/>
            <a:ext cx="10058400" cy="73152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IFC is a science-based inclusion consultancy built for the business side of financial institutions. We bring diagnostic tools, workshops and tailored solutions. We deliver internationally — across 60+ countries in partnership with the World Bank.</a:t>
            </a:r>
            <a:endParaRPr lang="en-US" sz="1100" dirty="0"/>
          </a:p>
        </p:txBody>
      </p:sp>
      <p:sp>
        <p:nvSpPr>
          <p:cNvPr id="15" name="Shape 13"/>
          <p:cNvSpPr/>
          <p:nvPr/>
        </p:nvSpPr>
        <p:spPr>
          <a:xfrm>
            <a:off x="731520" y="2834640"/>
            <a:ext cx="3520440" cy="2377440"/>
          </a:xfrm>
          <a:prstGeom prst="roundRect">
            <a:avLst>
              <a:gd name="adj" fmla="val 7692"/>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6" name="Shape 14"/>
          <p:cNvSpPr/>
          <p:nvPr/>
        </p:nvSpPr>
        <p:spPr>
          <a:xfrm>
            <a:off x="868680" y="2871216"/>
            <a:ext cx="3246120" cy="22860"/>
          </a:xfrm>
          <a:prstGeom prst="rect">
            <a:avLst/>
          </a:prstGeom>
          <a:solidFill>
            <a:srgbClr val="FFFFFF">
              <a:alpha val="90000"/>
            </a:srgbClr>
          </a:solidFill>
          <a:ln w="12700">
            <a:solidFill>
              <a:srgbClr val="333333"/>
            </a:solidFill>
            <a:prstDash val="solid"/>
          </a:ln>
        </p:spPr>
      </p:sp>
      <p:sp>
        <p:nvSpPr>
          <p:cNvPr id="17" name="Text 15"/>
          <p:cNvSpPr/>
          <p:nvPr/>
        </p:nvSpPr>
        <p:spPr>
          <a:xfrm>
            <a:off x="1051560" y="297180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WE ARE</a:t>
            </a:r>
            <a:endParaRPr lang="en-US" sz="800" dirty="0"/>
          </a:p>
        </p:txBody>
      </p:sp>
      <p:sp>
        <p:nvSpPr>
          <p:cNvPr id="18" name="Text 16"/>
          <p:cNvSpPr/>
          <p:nvPr/>
        </p:nvSpPr>
        <p:spPr>
          <a:xfrm>
            <a:off x="1051560" y="3246120"/>
            <a:ext cx="3108960" cy="548640"/>
          </a:xfrm>
          <a:prstGeom prst="rect">
            <a:avLst/>
          </a:prstGeom>
          <a:noFill/>
          <a:ln/>
        </p:spPr>
        <p:txBody>
          <a:bodyPr wrap="square" rtlCol="0" anchor="ctr"/>
          <a:lstStyle/>
          <a:p>
            <a:pPr indent="0" marL="0">
              <a:lnSpc>
                <a:spcPts val="2000"/>
              </a:lnSpc>
              <a:buNone/>
            </a:pPr>
            <a:r>
              <a:rPr lang="en-US" sz="1400" b="1" dirty="0">
                <a:solidFill>
                  <a:srgbClr val="0D3B2E"/>
                </a:solidFill>
                <a:latin typeface="Arial" pitchFamily="34" charset="0"/>
                <a:ea typeface="Arial" pitchFamily="34" charset="-122"/>
                <a:cs typeface="Arial" pitchFamily="34" charset="-120"/>
              </a:rPr>
              <a:t>A business performance firm</a:t>
            </a:r>
            <a:endParaRPr lang="en-US" sz="1400" dirty="0"/>
          </a:p>
        </p:txBody>
      </p:sp>
      <p:sp>
        <p:nvSpPr>
          <p:cNvPr id="19" name="Text 17"/>
          <p:cNvSpPr/>
          <p:nvPr/>
        </p:nvSpPr>
        <p:spPr>
          <a:xfrm>
            <a:off x="1051560" y="3886200"/>
            <a:ext cx="3108960" cy="12801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Fact-based, financial-grade business cases. We quantify the cost of inaction and close it.</a:t>
            </a:r>
            <a:endParaRPr lang="en-US" sz="1000" dirty="0"/>
          </a:p>
        </p:txBody>
      </p:sp>
      <p:sp>
        <p:nvSpPr>
          <p:cNvPr id="20" name="Shape 18"/>
          <p:cNvSpPr/>
          <p:nvPr/>
        </p:nvSpPr>
        <p:spPr>
          <a:xfrm>
            <a:off x="4434840" y="2834640"/>
            <a:ext cx="3520440" cy="2377440"/>
          </a:xfrm>
          <a:prstGeom prst="roundRect">
            <a:avLst>
              <a:gd name="adj" fmla="val 7692"/>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1" name="Shape 19"/>
          <p:cNvSpPr/>
          <p:nvPr/>
        </p:nvSpPr>
        <p:spPr>
          <a:xfrm>
            <a:off x="4572000" y="2871216"/>
            <a:ext cx="3246120" cy="22860"/>
          </a:xfrm>
          <a:prstGeom prst="rect">
            <a:avLst/>
          </a:prstGeom>
          <a:solidFill>
            <a:srgbClr val="FFFFFF">
              <a:alpha val="90000"/>
            </a:srgbClr>
          </a:solidFill>
          <a:ln w="12700">
            <a:solidFill>
              <a:srgbClr val="333333"/>
            </a:solidFill>
            <a:prstDash val="solid"/>
          </a:ln>
        </p:spPr>
      </p:sp>
      <p:sp>
        <p:nvSpPr>
          <p:cNvPr id="22" name="Text 20"/>
          <p:cNvSpPr/>
          <p:nvPr/>
        </p:nvSpPr>
        <p:spPr>
          <a:xfrm>
            <a:off x="4754880" y="297180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WE ARE NOT</a:t>
            </a:r>
            <a:endParaRPr lang="en-US" sz="800" dirty="0"/>
          </a:p>
        </p:txBody>
      </p:sp>
      <p:sp>
        <p:nvSpPr>
          <p:cNvPr id="23" name="Text 21"/>
          <p:cNvSpPr/>
          <p:nvPr/>
        </p:nvSpPr>
        <p:spPr>
          <a:xfrm>
            <a:off x="4754880" y="3246120"/>
            <a:ext cx="3108960" cy="548640"/>
          </a:xfrm>
          <a:prstGeom prst="rect">
            <a:avLst/>
          </a:prstGeom>
          <a:noFill/>
          <a:ln/>
        </p:spPr>
        <p:txBody>
          <a:bodyPr wrap="square" rtlCol="0" anchor="ctr"/>
          <a:lstStyle/>
          <a:p>
            <a:pPr indent="0" marL="0">
              <a:lnSpc>
                <a:spcPts val="2000"/>
              </a:lnSpc>
              <a:buNone/>
            </a:pPr>
            <a:r>
              <a:rPr lang="en-US" sz="1400" b="1" dirty="0">
                <a:solidFill>
                  <a:srgbClr val="0D3B2E"/>
                </a:solidFill>
                <a:latin typeface="Arial" pitchFamily="34" charset="0"/>
                <a:ea typeface="Arial" pitchFamily="34" charset="-122"/>
                <a:cs typeface="Arial" pitchFamily="34" charset="-120"/>
              </a:rPr>
              <a:t>A DEI or HR programme</a:t>
            </a:r>
            <a:endParaRPr lang="en-US" sz="1400" dirty="0"/>
          </a:p>
        </p:txBody>
      </p:sp>
      <p:sp>
        <p:nvSpPr>
          <p:cNvPr id="24" name="Text 22"/>
          <p:cNvSpPr/>
          <p:nvPr/>
        </p:nvSpPr>
        <p:spPr>
          <a:xfrm>
            <a:off x="4754880" y="3886200"/>
            <a:ext cx="3108960" cy="12801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We do not do general culture change, broad DEI work, or HR consultancy. That discipline is our edge.</a:t>
            </a:r>
            <a:endParaRPr lang="en-US" sz="1000" dirty="0"/>
          </a:p>
        </p:txBody>
      </p:sp>
      <p:sp>
        <p:nvSpPr>
          <p:cNvPr id="25" name="Shape 23"/>
          <p:cNvSpPr/>
          <p:nvPr/>
        </p:nvSpPr>
        <p:spPr>
          <a:xfrm>
            <a:off x="8138160" y="2834640"/>
            <a:ext cx="3520440" cy="2377440"/>
          </a:xfrm>
          <a:prstGeom prst="roundRect">
            <a:avLst>
              <a:gd name="adj" fmla="val 7692"/>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6" name="Shape 24"/>
          <p:cNvSpPr/>
          <p:nvPr/>
        </p:nvSpPr>
        <p:spPr>
          <a:xfrm>
            <a:off x="8275320" y="2871216"/>
            <a:ext cx="3246120" cy="22860"/>
          </a:xfrm>
          <a:prstGeom prst="rect">
            <a:avLst/>
          </a:prstGeom>
          <a:solidFill>
            <a:srgbClr val="FFFFFF">
              <a:alpha val="90000"/>
            </a:srgbClr>
          </a:solidFill>
          <a:ln w="12700">
            <a:solidFill>
              <a:srgbClr val="333333"/>
            </a:solidFill>
            <a:prstDash val="solid"/>
          </a:ln>
        </p:spPr>
      </p:sp>
      <p:sp>
        <p:nvSpPr>
          <p:cNvPr id="27" name="Text 25"/>
          <p:cNvSpPr/>
          <p:nvPr/>
        </p:nvSpPr>
        <p:spPr>
          <a:xfrm>
            <a:off x="8458200" y="297180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WE GO THROUGH</a:t>
            </a:r>
            <a:endParaRPr lang="en-US" sz="800" dirty="0"/>
          </a:p>
        </p:txBody>
      </p:sp>
      <p:sp>
        <p:nvSpPr>
          <p:cNvPr id="28" name="Text 26"/>
          <p:cNvSpPr/>
          <p:nvPr/>
        </p:nvSpPr>
        <p:spPr>
          <a:xfrm>
            <a:off x="8458200" y="3246120"/>
            <a:ext cx="3108960" cy="548640"/>
          </a:xfrm>
          <a:prstGeom prst="rect">
            <a:avLst/>
          </a:prstGeom>
          <a:noFill/>
          <a:ln/>
        </p:spPr>
        <p:txBody>
          <a:bodyPr wrap="square" rtlCol="0" anchor="ctr"/>
          <a:lstStyle/>
          <a:p>
            <a:pPr indent="0" marL="0">
              <a:lnSpc>
                <a:spcPts val="2000"/>
              </a:lnSpc>
              <a:buNone/>
            </a:pPr>
            <a:r>
              <a:rPr lang="en-US" sz="1400" b="1" dirty="0">
                <a:solidFill>
                  <a:srgbClr val="0D3B2E"/>
                </a:solidFill>
                <a:latin typeface="Arial" pitchFamily="34" charset="0"/>
                <a:ea typeface="Arial" pitchFamily="34" charset="-122"/>
                <a:cs typeface="Arial" pitchFamily="34" charset="-120"/>
              </a:rPr>
              <a:t>The client door</a:t>
            </a:r>
            <a:endParaRPr lang="en-US" sz="1400" dirty="0"/>
          </a:p>
        </p:txBody>
      </p:sp>
      <p:sp>
        <p:nvSpPr>
          <p:cNvPr id="29" name="Text 27"/>
          <p:cNvSpPr/>
          <p:nvPr/>
        </p:nvSpPr>
        <p:spPr>
          <a:xfrm>
            <a:off x="8458200" y="3886200"/>
            <a:ext cx="3108960" cy="12801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Every other inclusion firm works the HR door. We help institutions reach, serve and grow revenue from diverse clients externally.</a:t>
            </a:r>
            <a:endParaRPr lang="en-US" sz="1000" dirty="0"/>
          </a:p>
        </p:txBody>
      </p:sp>
      <p:sp>
        <p:nvSpPr>
          <p:cNvPr id="30" name="Shape 28"/>
          <p:cNvSpPr/>
          <p:nvPr/>
        </p:nvSpPr>
        <p:spPr>
          <a:xfrm>
            <a:off x="731520" y="5623560"/>
            <a:ext cx="2240280" cy="27432"/>
          </a:xfrm>
          <a:prstGeom prst="rect">
            <a:avLst/>
          </a:prstGeom>
          <a:solidFill>
            <a:srgbClr val="0D3B2E"/>
          </a:solidFill>
          <a:ln w="12700">
            <a:solidFill>
              <a:srgbClr val="333333"/>
            </a:solidFill>
            <a:prstDash val="solid"/>
          </a:ln>
        </p:spPr>
      </p:sp>
      <p:sp>
        <p:nvSpPr>
          <p:cNvPr id="31" name="Shape 29"/>
          <p:cNvSpPr/>
          <p:nvPr/>
        </p:nvSpPr>
        <p:spPr>
          <a:xfrm>
            <a:off x="2971800" y="5513832"/>
            <a:ext cx="4160520" cy="22860"/>
          </a:xfrm>
          <a:prstGeom prst="rect">
            <a:avLst/>
          </a:prstGeom>
          <a:solidFill>
            <a:srgbClr val="6DC0C8"/>
          </a:solidFill>
          <a:ln w="12700">
            <a:solidFill>
              <a:srgbClr val="333333"/>
            </a:solidFill>
            <a:prstDash val="solid"/>
          </a:ln>
        </p:spPr>
      </p:sp>
      <p:sp>
        <p:nvSpPr>
          <p:cNvPr id="32" name="Shape 30"/>
          <p:cNvSpPr/>
          <p:nvPr/>
        </p:nvSpPr>
        <p:spPr>
          <a:xfrm>
            <a:off x="2971800" y="5586984"/>
            <a:ext cx="4160520" cy="22860"/>
          </a:xfrm>
          <a:prstGeom prst="rect">
            <a:avLst/>
          </a:prstGeom>
          <a:solidFill>
            <a:srgbClr val="F5B896"/>
          </a:solidFill>
          <a:ln w="12700">
            <a:solidFill>
              <a:srgbClr val="333333"/>
            </a:solidFill>
            <a:prstDash val="solid"/>
          </a:ln>
        </p:spPr>
      </p:sp>
      <p:sp>
        <p:nvSpPr>
          <p:cNvPr id="33" name="Shape 31"/>
          <p:cNvSpPr/>
          <p:nvPr/>
        </p:nvSpPr>
        <p:spPr>
          <a:xfrm>
            <a:off x="2971800" y="5660136"/>
            <a:ext cx="4160520" cy="22860"/>
          </a:xfrm>
          <a:prstGeom prst="rect">
            <a:avLst/>
          </a:prstGeom>
          <a:solidFill>
            <a:srgbClr val="F2D080"/>
          </a:solidFill>
          <a:ln w="12700">
            <a:solidFill>
              <a:srgbClr val="333333"/>
            </a:solidFill>
            <a:prstDash val="solid"/>
          </a:ln>
        </p:spPr>
      </p:sp>
      <p:sp>
        <p:nvSpPr>
          <p:cNvPr id="34" name="Shape 32"/>
          <p:cNvSpPr/>
          <p:nvPr/>
        </p:nvSpPr>
        <p:spPr>
          <a:xfrm>
            <a:off x="2971800" y="5733288"/>
            <a:ext cx="4160520" cy="22860"/>
          </a:xfrm>
          <a:prstGeom prst="rect">
            <a:avLst/>
          </a:prstGeom>
          <a:solidFill>
            <a:srgbClr val="9FD4B0"/>
          </a:solidFill>
          <a:ln w="12700">
            <a:solidFill>
              <a:srgbClr val="333333"/>
            </a:solidFill>
            <a:prstDash val="solid"/>
          </a:ln>
        </p:spPr>
      </p:sp>
      <p:sp>
        <p:nvSpPr>
          <p:cNvPr id="35" name="Text 33"/>
          <p:cNvSpPr/>
          <p:nvPr/>
        </p:nvSpPr>
        <p:spPr>
          <a:xfrm>
            <a:off x="731520" y="5943600"/>
            <a:ext cx="10972800" cy="640080"/>
          </a:xfrm>
          <a:prstGeom prst="rect">
            <a:avLst/>
          </a:prstGeom>
          <a:noFill/>
          <a:ln/>
        </p:spPr>
        <p:txBody>
          <a:bodyPr wrap="square" rtlCol="0" anchor="ctr"/>
          <a:lstStyle/>
          <a:p>
            <a:pPr indent="0" marL="0">
              <a:buNone/>
            </a:pPr>
            <a:r>
              <a:rPr lang="en-US" sz="2000" dirty="0">
                <a:solidFill>
                  <a:srgbClr val="0D3B2E"/>
                </a:solidFill>
                <a:latin typeface="Arial" pitchFamily="34" charset="0"/>
                <a:ea typeface="Arial" pitchFamily="34" charset="-122"/>
                <a:cs typeface="Arial" pitchFamily="34" charset="-120"/>
              </a:rPr>
              <a:t>We do not come with values. We come with </a:t>
            </a:r>
            <a:pPr indent="0" marL="0">
              <a:buNone/>
            </a:pPr>
            <a:r>
              <a:rPr lang="en-US" sz="2000" b="1" dirty="0">
                <a:solidFill>
                  <a:srgbClr val="6DC0C8"/>
                </a:solidFill>
                <a:latin typeface="Arial" pitchFamily="34" charset="0"/>
                <a:ea typeface="Arial" pitchFamily="34" charset="-122"/>
                <a:cs typeface="Arial" pitchFamily="34" charset="-120"/>
              </a:rPr>
              <a:t>revenue numbers.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04 · Who We Serve</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04 · WHO WE SERVE</a:t>
            </a:r>
            <a:endParaRPr lang="en-US" sz="800" dirty="0"/>
          </a:p>
        </p:txBody>
      </p:sp>
      <p:sp>
        <p:nvSpPr>
          <p:cNvPr id="13" name="Text 11"/>
          <p:cNvSpPr/>
          <p:nvPr/>
        </p:nvSpPr>
        <p:spPr>
          <a:xfrm>
            <a:off x="731520" y="1188720"/>
            <a:ext cx="10515600" cy="640080"/>
          </a:xfrm>
          <a:prstGeom prst="rect">
            <a:avLst/>
          </a:prstGeom>
          <a:noFill/>
          <a:ln/>
        </p:spPr>
        <p:txBody>
          <a:bodyPr wrap="square" rtlCol="0" anchor="ctr"/>
          <a:lstStyle/>
          <a:p>
            <a:pPr indent="0" marL="0">
              <a:lnSpc>
                <a:spcPts val="2800"/>
              </a:lnSpc>
              <a:buNone/>
            </a:pPr>
            <a:r>
              <a:rPr lang="en-US" sz="2200" b="1" dirty="0">
                <a:solidFill>
                  <a:srgbClr val="0D3B2E"/>
                </a:solidFill>
                <a:latin typeface="Arial" pitchFamily="34" charset="0"/>
                <a:ea typeface="Arial" pitchFamily="34" charset="-122"/>
                <a:cs typeface="Arial" pitchFamily="34" charset="-120"/>
              </a:rPr>
              <a:t>Leaders who see the commercial opportunity — not just the compliance requirement.</a:t>
            </a:r>
            <a:endParaRPr lang="en-US" sz="2200" dirty="0"/>
          </a:p>
        </p:txBody>
      </p:sp>
      <p:sp>
        <p:nvSpPr>
          <p:cNvPr id="14" name="Text 12"/>
          <p:cNvSpPr/>
          <p:nvPr/>
        </p:nvSpPr>
        <p:spPr>
          <a:xfrm>
            <a:off x="731520" y="1874520"/>
            <a:ext cx="10515600" cy="64008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Medium and large corporates whose boards and C-suites treat underserved client segments as a revenue problem, not a values problem. Primary focus: financial services.</a:t>
            </a:r>
            <a:endParaRPr lang="en-US" sz="1100" dirty="0"/>
          </a:p>
        </p:txBody>
      </p:sp>
      <p:sp>
        <p:nvSpPr>
          <p:cNvPr id="15" name="Shape 13"/>
          <p:cNvSpPr/>
          <p:nvPr/>
        </p:nvSpPr>
        <p:spPr>
          <a:xfrm>
            <a:off x="731520" y="2697480"/>
            <a:ext cx="35204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6" name="Shape 14"/>
          <p:cNvSpPr/>
          <p:nvPr/>
        </p:nvSpPr>
        <p:spPr>
          <a:xfrm>
            <a:off x="868680" y="2734056"/>
            <a:ext cx="3246120" cy="22860"/>
          </a:xfrm>
          <a:prstGeom prst="rect">
            <a:avLst/>
          </a:prstGeom>
          <a:solidFill>
            <a:srgbClr val="FFFFFF">
              <a:alpha val="90000"/>
            </a:srgbClr>
          </a:solidFill>
          <a:ln w="12700">
            <a:solidFill>
              <a:srgbClr val="333333"/>
            </a:solidFill>
            <a:prstDash val="solid"/>
          </a:ln>
        </p:spPr>
      </p:sp>
      <p:sp>
        <p:nvSpPr>
          <p:cNvPr id="17" name="Text 15"/>
          <p:cNvSpPr/>
          <p:nvPr/>
        </p:nvSpPr>
        <p:spPr>
          <a:xfrm>
            <a:off x="1005840" y="2834640"/>
            <a:ext cx="3200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PRIMARY</a:t>
            </a:r>
            <a:endParaRPr lang="en-US" sz="800" dirty="0"/>
          </a:p>
        </p:txBody>
      </p:sp>
      <p:sp>
        <p:nvSpPr>
          <p:cNvPr id="18" name="Text 16"/>
          <p:cNvSpPr/>
          <p:nvPr/>
        </p:nvSpPr>
        <p:spPr>
          <a:xfrm>
            <a:off x="1005840" y="3108960"/>
            <a:ext cx="3200400" cy="457200"/>
          </a:xfrm>
          <a:prstGeom prst="rect">
            <a:avLst/>
          </a:prstGeom>
          <a:noFill/>
          <a:ln/>
        </p:spPr>
        <p:txBody>
          <a:bodyPr wrap="square" rtlCol="0" anchor="ctr"/>
          <a:lstStyle/>
          <a:p>
            <a:pPr indent="0" marL="0">
              <a:buNone/>
            </a:pPr>
            <a:r>
              <a:rPr lang="en-US" sz="1400" b="1" dirty="0">
                <a:solidFill>
                  <a:srgbClr val="0D3B2E"/>
                </a:solidFill>
                <a:latin typeface="Arial" pitchFamily="34" charset="0"/>
                <a:ea typeface="Arial" pitchFamily="34" charset="-122"/>
                <a:cs typeface="Arial" pitchFamily="34" charset="-120"/>
              </a:rPr>
              <a:t>Financial Institutions</a:t>
            </a:r>
            <a:endParaRPr lang="en-US" sz="1400" dirty="0"/>
          </a:p>
        </p:txBody>
      </p:sp>
      <p:sp>
        <p:nvSpPr>
          <p:cNvPr id="19" name="Text 17"/>
          <p:cNvSpPr/>
          <p:nvPr/>
        </p:nvSpPr>
        <p:spPr>
          <a:xfrm>
            <a:off x="1005840" y="3611880"/>
            <a:ext cx="3200400" cy="118872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Banks, wealth managers, asset managers, insurers and intermediaries (accountants, mortgage brokers). Clearest cost of inaction, fastest commercial brief.</a:t>
            </a:r>
            <a:endParaRPr lang="en-US" sz="1000" dirty="0"/>
          </a:p>
        </p:txBody>
      </p:sp>
      <p:sp>
        <p:nvSpPr>
          <p:cNvPr id="20" name="Shape 18"/>
          <p:cNvSpPr/>
          <p:nvPr/>
        </p:nvSpPr>
        <p:spPr>
          <a:xfrm>
            <a:off x="4434840" y="2697480"/>
            <a:ext cx="35204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1" name="Shape 19"/>
          <p:cNvSpPr/>
          <p:nvPr/>
        </p:nvSpPr>
        <p:spPr>
          <a:xfrm>
            <a:off x="4572000" y="2734056"/>
            <a:ext cx="3246120" cy="22860"/>
          </a:xfrm>
          <a:prstGeom prst="rect">
            <a:avLst/>
          </a:prstGeom>
          <a:solidFill>
            <a:srgbClr val="FFFFFF">
              <a:alpha val="90000"/>
            </a:srgbClr>
          </a:solidFill>
          <a:ln w="12700">
            <a:solidFill>
              <a:srgbClr val="333333"/>
            </a:solidFill>
            <a:prstDash val="solid"/>
          </a:ln>
        </p:spPr>
      </p:sp>
      <p:sp>
        <p:nvSpPr>
          <p:cNvPr id="22" name="Text 20"/>
          <p:cNvSpPr/>
          <p:nvPr/>
        </p:nvSpPr>
        <p:spPr>
          <a:xfrm>
            <a:off x="4709160" y="2834640"/>
            <a:ext cx="3200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MULTILATERAL</a:t>
            </a:r>
            <a:endParaRPr lang="en-US" sz="800" dirty="0"/>
          </a:p>
        </p:txBody>
      </p:sp>
      <p:sp>
        <p:nvSpPr>
          <p:cNvPr id="23" name="Text 21"/>
          <p:cNvSpPr/>
          <p:nvPr/>
        </p:nvSpPr>
        <p:spPr>
          <a:xfrm>
            <a:off x="4709160" y="3108960"/>
            <a:ext cx="3200400" cy="457200"/>
          </a:xfrm>
          <a:prstGeom prst="rect">
            <a:avLst/>
          </a:prstGeom>
          <a:noFill/>
          <a:ln/>
        </p:spPr>
        <p:txBody>
          <a:bodyPr wrap="square" rtlCol="0" anchor="ctr"/>
          <a:lstStyle/>
          <a:p>
            <a:pPr indent="0" marL="0">
              <a:buNone/>
            </a:pPr>
            <a:r>
              <a:rPr lang="en-US" sz="1400" b="1" dirty="0">
                <a:solidFill>
                  <a:srgbClr val="0D3B2E"/>
                </a:solidFill>
                <a:latin typeface="Arial" pitchFamily="34" charset="0"/>
                <a:ea typeface="Arial" pitchFamily="34" charset="-122"/>
                <a:cs typeface="Arial" pitchFamily="34" charset="-120"/>
              </a:rPr>
              <a:t>International Organisations</a:t>
            </a:r>
            <a:endParaRPr lang="en-US" sz="1400" dirty="0"/>
          </a:p>
        </p:txBody>
      </p:sp>
      <p:sp>
        <p:nvSpPr>
          <p:cNvPr id="24" name="Text 22"/>
          <p:cNvSpPr/>
          <p:nvPr/>
        </p:nvSpPr>
        <p:spPr>
          <a:xfrm>
            <a:off x="4709160" y="3611880"/>
            <a:ext cx="3200400" cy="118872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World Bank, EIB, Financial Alliance for Women — deploying the IFC methodology across 60+ countries as market infrastructure.</a:t>
            </a:r>
            <a:endParaRPr lang="en-US" sz="1000" dirty="0"/>
          </a:p>
        </p:txBody>
      </p:sp>
      <p:sp>
        <p:nvSpPr>
          <p:cNvPr id="25" name="Shape 23"/>
          <p:cNvSpPr/>
          <p:nvPr/>
        </p:nvSpPr>
        <p:spPr>
          <a:xfrm>
            <a:off x="8138160" y="2697480"/>
            <a:ext cx="35204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6" name="Shape 24"/>
          <p:cNvSpPr/>
          <p:nvPr/>
        </p:nvSpPr>
        <p:spPr>
          <a:xfrm>
            <a:off x="8275320" y="2734056"/>
            <a:ext cx="3246120" cy="22860"/>
          </a:xfrm>
          <a:prstGeom prst="rect">
            <a:avLst/>
          </a:prstGeom>
          <a:solidFill>
            <a:srgbClr val="FFFFFF">
              <a:alpha val="90000"/>
            </a:srgbClr>
          </a:solidFill>
          <a:ln w="12700">
            <a:solidFill>
              <a:srgbClr val="333333"/>
            </a:solidFill>
            <a:prstDash val="solid"/>
          </a:ln>
        </p:spPr>
      </p:sp>
      <p:sp>
        <p:nvSpPr>
          <p:cNvPr id="27" name="Text 25"/>
          <p:cNvSpPr/>
          <p:nvPr/>
        </p:nvSpPr>
        <p:spPr>
          <a:xfrm>
            <a:off x="8412480" y="2834640"/>
            <a:ext cx="3200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POLICY</a:t>
            </a:r>
            <a:endParaRPr lang="en-US" sz="800" dirty="0"/>
          </a:p>
        </p:txBody>
      </p:sp>
      <p:sp>
        <p:nvSpPr>
          <p:cNvPr id="28" name="Text 26"/>
          <p:cNvSpPr/>
          <p:nvPr/>
        </p:nvSpPr>
        <p:spPr>
          <a:xfrm>
            <a:off x="8412480" y="3108960"/>
            <a:ext cx="3200400" cy="457200"/>
          </a:xfrm>
          <a:prstGeom prst="rect">
            <a:avLst/>
          </a:prstGeom>
          <a:noFill/>
          <a:ln/>
        </p:spPr>
        <p:txBody>
          <a:bodyPr wrap="square" rtlCol="0" anchor="ctr"/>
          <a:lstStyle/>
          <a:p>
            <a:pPr indent="0" marL="0">
              <a:buNone/>
            </a:pPr>
            <a:r>
              <a:rPr lang="en-US" sz="1400" b="1" dirty="0">
                <a:solidFill>
                  <a:srgbClr val="0D3B2E"/>
                </a:solidFill>
                <a:latin typeface="Arial" pitchFamily="34" charset="0"/>
                <a:ea typeface="Arial" pitchFamily="34" charset="-122"/>
                <a:cs typeface="Arial" pitchFamily="34" charset="-120"/>
              </a:rPr>
              <a:t>Regulators &amp; Supervisors</a:t>
            </a:r>
            <a:endParaRPr lang="en-US" sz="1400" dirty="0"/>
          </a:p>
        </p:txBody>
      </p:sp>
      <p:sp>
        <p:nvSpPr>
          <p:cNvPr id="29" name="Text 27"/>
          <p:cNvSpPr/>
          <p:nvPr/>
        </p:nvSpPr>
        <p:spPr>
          <a:xfrm>
            <a:off x="8412480" y="3611880"/>
            <a:ext cx="3200400" cy="118872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Policy makers turning awareness of gender-lens finance into binding guidance, benchmarks and market standards.</a:t>
            </a:r>
            <a:endParaRPr lang="en-US" sz="1000" dirty="0"/>
          </a:p>
        </p:txBody>
      </p:sp>
      <p:sp>
        <p:nvSpPr>
          <p:cNvPr id="30" name="Shape 28"/>
          <p:cNvSpPr/>
          <p:nvPr/>
        </p:nvSpPr>
        <p:spPr>
          <a:xfrm>
            <a:off x="731520" y="5029200"/>
            <a:ext cx="10698480" cy="1508760"/>
          </a:xfrm>
          <a:prstGeom prst="roundRect">
            <a:avLst>
              <a:gd name="adj" fmla="val 1212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1" name="Shape 29"/>
          <p:cNvSpPr/>
          <p:nvPr/>
        </p:nvSpPr>
        <p:spPr>
          <a:xfrm>
            <a:off x="868680" y="5065776"/>
            <a:ext cx="10424160" cy="22860"/>
          </a:xfrm>
          <a:prstGeom prst="rect">
            <a:avLst/>
          </a:prstGeom>
          <a:solidFill>
            <a:srgbClr val="FFFFFF">
              <a:alpha val="90000"/>
            </a:srgbClr>
          </a:solidFill>
          <a:ln w="12700">
            <a:solidFill>
              <a:srgbClr val="333333"/>
            </a:solidFill>
            <a:prstDash val="solid"/>
          </a:ln>
        </p:spPr>
      </p:sp>
      <p:sp>
        <p:nvSpPr>
          <p:cNvPr id="32" name="Text 30"/>
          <p:cNvSpPr/>
          <p:nvPr/>
        </p:nvSpPr>
        <p:spPr>
          <a:xfrm>
            <a:off x="914400" y="5120640"/>
            <a:ext cx="5486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INITIAL NAMED PROSPECTS</a:t>
            </a:r>
            <a:endParaRPr lang="en-US" sz="800" dirty="0"/>
          </a:p>
        </p:txBody>
      </p:sp>
      <p:sp>
        <p:nvSpPr>
          <p:cNvPr id="33" name="Text 31"/>
          <p:cNvSpPr/>
          <p:nvPr/>
        </p:nvSpPr>
        <p:spPr>
          <a:xfrm>
            <a:off x="914400" y="5440680"/>
            <a:ext cx="3383280" cy="274320"/>
          </a:xfrm>
          <a:prstGeom prst="rect">
            <a:avLst/>
          </a:prstGeom>
          <a:noFill/>
          <a:ln/>
        </p:spPr>
        <p:txBody>
          <a:bodyPr wrap="square" rtlCol="0" anchor="ctr"/>
          <a:lstStyle/>
          <a:p>
            <a:pPr indent="0" marL="0">
              <a:buNone/>
            </a:pPr>
            <a:r>
              <a:rPr lang="en-US" sz="800" b="1" spc="300" kern="0" dirty="0">
                <a:solidFill>
                  <a:srgbClr val="0D3B2E">
                    <a:alpha val="60000"/>
                  </a:srgbClr>
                </a:solidFill>
                <a:latin typeface="Arial" pitchFamily="34" charset="0"/>
                <a:ea typeface="Arial" pitchFamily="34" charset="-122"/>
                <a:cs typeface="Arial" pitchFamily="34" charset="-120"/>
              </a:rPr>
              <a:t>DUTCH ANCHORS</a:t>
            </a:r>
            <a:endParaRPr lang="en-US" sz="800" dirty="0"/>
          </a:p>
        </p:txBody>
      </p:sp>
      <p:sp>
        <p:nvSpPr>
          <p:cNvPr id="34" name="Text 32"/>
          <p:cNvSpPr/>
          <p:nvPr/>
        </p:nvSpPr>
        <p:spPr>
          <a:xfrm>
            <a:off x="914400" y="5715000"/>
            <a:ext cx="3383280" cy="777240"/>
          </a:xfrm>
          <a:prstGeom prst="rect">
            <a:avLst/>
          </a:prstGeom>
          <a:noFill/>
          <a:ln/>
        </p:spPr>
        <p:txBody>
          <a:bodyPr wrap="square" rtlCol="0" anchor="t"/>
          <a:lstStyle/>
          <a:p>
            <a:pPr indent="0" marL="0">
              <a:lnSpc>
                <a:spcPts val="1500"/>
              </a:lnSpc>
              <a:buNone/>
            </a:pPr>
            <a:r>
              <a:rPr lang="en-US" sz="950" dirty="0">
                <a:solidFill>
                  <a:srgbClr val="0D3B2E">
                    <a:alpha val="75000"/>
                  </a:srgbClr>
                </a:solidFill>
                <a:latin typeface="Arial" pitchFamily="34" charset="0"/>
                <a:ea typeface="Arial" pitchFamily="34" charset="-122"/>
                <a:cs typeface="Arial" pitchFamily="34" charset="-120"/>
              </a:rPr>
              <a:t>ABN AMRO · ING · Van Lanschot · Insinger Gilissen · Code V</a:t>
            </a:r>
            <a:endParaRPr lang="en-US" sz="950" dirty="0"/>
          </a:p>
        </p:txBody>
      </p:sp>
      <p:sp>
        <p:nvSpPr>
          <p:cNvPr id="35" name="Text 33"/>
          <p:cNvSpPr/>
          <p:nvPr/>
        </p:nvSpPr>
        <p:spPr>
          <a:xfrm>
            <a:off x="4434840" y="5440680"/>
            <a:ext cx="3383280" cy="274320"/>
          </a:xfrm>
          <a:prstGeom prst="rect">
            <a:avLst/>
          </a:prstGeom>
          <a:noFill/>
          <a:ln/>
        </p:spPr>
        <p:txBody>
          <a:bodyPr wrap="square" rtlCol="0" anchor="ctr"/>
          <a:lstStyle/>
          <a:p>
            <a:pPr indent="0" marL="0">
              <a:buNone/>
            </a:pPr>
            <a:r>
              <a:rPr lang="en-US" sz="800" b="1" spc="300" kern="0" dirty="0">
                <a:solidFill>
                  <a:srgbClr val="0D3B2E">
                    <a:alpha val="60000"/>
                  </a:srgbClr>
                </a:solidFill>
                <a:latin typeface="Arial" pitchFamily="34" charset="0"/>
                <a:ea typeface="Arial" pitchFamily="34" charset="-122"/>
                <a:cs typeface="Arial" pitchFamily="34" charset="-120"/>
              </a:rPr>
              <a:t>GLOBAL &amp; MULTILATERAL</a:t>
            </a:r>
            <a:endParaRPr lang="en-US" sz="800" dirty="0"/>
          </a:p>
        </p:txBody>
      </p:sp>
      <p:sp>
        <p:nvSpPr>
          <p:cNvPr id="36" name="Text 34"/>
          <p:cNvSpPr/>
          <p:nvPr/>
        </p:nvSpPr>
        <p:spPr>
          <a:xfrm>
            <a:off x="4434840" y="5715000"/>
            <a:ext cx="3383280" cy="777240"/>
          </a:xfrm>
          <a:prstGeom prst="rect">
            <a:avLst/>
          </a:prstGeom>
          <a:noFill/>
          <a:ln/>
        </p:spPr>
        <p:txBody>
          <a:bodyPr wrap="square" rtlCol="0" anchor="t"/>
          <a:lstStyle/>
          <a:p>
            <a:pPr indent="0" marL="0">
              <a:lnSpc>
                <a:spcPts val="1500"/>
              </a:lnSpc>
              <a:buNone/>
            </a:pPr>
            <a:r>
              <a:rPr lang="en-US" sz="950" dirty="0">
                <a:solidFill>
                  <a:srgbClr val="0D3B2E">
                    <a:alpha val="75000"/>
                  </a:srgbClr>
                </a:solidFill>
                <a:latin typeface="Arial" pitchFamily="34" charset="0"/>
                <a:ea typeface="Arial" pitchFamily="34" charset="-122"/>
                <a:cs typeface="Arial" pitchFamily="34" charset="-120"/>
              </a:rPr>
              <a:t>World Bank · EIB · Financial Alliance for Women</a:t>
            </a:r>
            <a:endParaRPr lang="en-US" sz="950" dirty="0"/>
          </a:p>
        </p:txBody>
      </p:sp>
      <p:sp>
        <p:nvSpPr>
          <p:cNvPr id="37" name="Text 35"/>
          <p:cNvSpPr/>
          <p:nvPr/>
        </p:nvSpPr>
        <p:spPr>
          <a:xfrm>
            <a:off x="7955280" y="5440680"/>
            <a:ext cx="3383280" cy="274320"/>
          </a:xfrm>
          <a:prstGeom prst="rect">
            <a:avLst/>
          </a:prstGeom>
          <a:noFill/>
          <a:ln/>
        </p:spPr>
        <p:txBody>
          <a:bodyPr wrap="square" rtlCol="0" anchor="ctr"/>
          <a:lstStyle/>
          <a:p>
            <a:pPr indent="0" marL="0">
              <a:buNone/>
            </a:pPr>
            <a:r>
              <a:rPr lang="en-US" sz="800" b="1" spc="300" kern="0" dirty="0">
                <a:solidFill>
                  <a:srgbClr val="0D3B2E">
                    <a:alpha val="60000"/>
                  </a:srgbClr>
                </a:solidFill>
                <a:latin typeface="Arial" pitchFamily="34" charset="0"/>
                <a:ea typeface="Arial" pitchFamily="34" charset="-122"/>
                <a:cs typeface="Arial" pitchFamily="34" charset="-120"/>
              </a:rPr>
              <a:t>COMPETITOR / CHANNEL</a:t>
            </a:r>
            <a:endParaRPr lang="en-US" sz="800" dirty="0"/>
          </a:p>
        </p:txBody>
      </p:sp>
      <p:sp>
        <p:nvSpPr>
          <p:cNvPr id="38" name="Text 36"/>
          <p:cNvSpPr/>
          <p:nvPr/>
        </p:nvSpPr>
        <p:spPr>
          <a:xfrm>
            <a:off x="7955280" y="5715000"/>
            <a:ext cx="3383280" cy="777240"/>
          </a:xfrm>
          <a:prstGeom prst="rect">
            <a:avLst/>
          </a:prstGeom>
          <a:noFill/>
          <a:ln/>
        </p:spPr>
        <p:txBody>
          <a:bodyPr wrap="square" rtlCol="0" anchor="t"/>
          <a:lstStyle/>
          <a:p>
            <a:pPr indent="0" marL="0">
              <a:lnSpc>
                <a:spcPts val="1500"/>
              </a:lnSpc>
              <a:buNone/>
            </a:pPr>
            <a:r>
              <a:rPr lang="en-US" sz="950" dirty="0">
                <a:solidFill>
                  <a:srgbClr val="0D3B2E">
                    <a:alpha val="75000"/>
                  </a:srgbClr>
                </a:solidFill>
                <a:latin typeface="Arial" pitchFamily="34" charset="0"/>
                <a:ea typeface="Arial" pitchFamily="34" charset="-122"/>
                <a:cs typeface="Arial" pitchFamily="34" charset="-120"/>
              </a:rPr>
              <a:t>EY · PwC · Deloitte — competitors and potential distribution partners.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05 · What Makes Us Different</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05 · WHAT MAKES US DIFFERENT</a:t>
            </a:r>
            <a:endParaRPr lang="en-US" sz="800" dirty="0"/>
          </a:p>
        </p:txBody>
      </p:sp>
      <p:sp>
        <p:nvSpPr>
          <p:cNvPr id="13" name="Text 11"/>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An almost entirely unoccupied space — with a lean, precise delivery model.</a:t>
            </a:r>
            <a:endParaRPr lang="en-US" sz="2200" dirty="0"/>
          </a:p>
        </p:txBody>
      </p:sp>
      <p:sp>
        <p:nvSpPr>
          <p:cNvPr id="14" name="Text 12"/>
          <p:cNvSpPr/>
          <p:nvPr/>
        </p:nvSpPr>
        <p:spPr>
          <a:xfrm>
            <a:off x="731520" y="1874520"/>
            <a:ext cx="100584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Every other inclusion firm works the HR door. We work the client door. That single choice redefines the buyer, the brief and the business case.</a:t>
            </a:r>
            <a:endParaRPr lang="en-US" sz="1100" dirty="0"/>
          </a:p>
        </p:txBody>
      </p:sp>
      <p:sp>
        <p:nvSpPr>
          <p:cNvPr id="15" name="Shape 13"/>
          <p:cNvSpPr/>
          <p:nvPr/>
        </p:nvSpPr>
        <p:spPr>
          <a:xfrm>
            <a:off x="731520" y="2651760"/>
            <a:ext cx="54864" cy="1463040"/>
          </a:xfrm>
          <a:prstGeom prst="rect">
            <a:avLst>
              <a:gd name="adj" fmla="val 50000"/>
            </a:avLst>
          </a:prstGeom>
          <a:solidFill>
            <a:srgbClr val="6DC0C8"/>
          </a:solidFill>
          <a:ln w="12700">
            <a:solidFill>
              <a:srgbClr val="333333"/>
            </a:solidFill>
            <a:prstDash val="solid"/>
          </a:ln>
        </p:spPr>
      </p:sp>
      <p:sp>
        <p:nvSpPr>
          <p:cNvPr id="16" name="Shape 14"/>
          <p:cNvSpPr/>
          <p:nvPr/>
        </p:nvSpPr>
        <p:spPr>
          <a:xfrm>
            <a:off x="841248" y="2651760"/>
            <a:ext cx="5349240" cy="1463040"/>
          </a:xfrm>
          <a:prstGeom prst="roundRect">
            <a:avLst>
              <a:gd name="adj" fmla="val 12500"/>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7" name="Shape 15"/>
          <p:cNvSpPr/>
          <p:nvPr/>
        </p:nvSpPr>
        <p:spPr>
          <a:xfrm>
            <a:off x="978408" y="2688336"/>
            <a:ext cx="5074920" cy="22860"/>
          </a:xfrm>
          <a:prstGeom prst="rect">
            <a:avLst/>
          </a:prstGeom>
          <a:solidFill>
            <a:srgbClr val="FFFFFF">
              <a:alpha val="90000"/>
            </a:srgbClr>
          </a:solidFill>
          <a:ln w="12700">
            <a:solidFill>
              <a:srgbClr val="333333"/>
            </a:solidFill>
            <a:prstDash val="solid"/>
          </a:ln>
        </p:spPr>
      </p:sp>
      <p:sp>
        <p:nvSpPr>
          <p:cNvPr id="18" name="Text 16"/>
          <p:cNvSpPr/>
          <p:nvPr/>
        </p:nvSpPr>
        <p:spPr>
          <a:xfrm>
            <a:off x="109728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Fact-based, not moral-case</a:t>
            </a:r>
            <a:endParaRPr lang="en-US" sz="1300" dirty="0"/>
          </a:p>
        </p:txBody>
      </p:sp>
      <p:sp>
        <p:nvSpPr>
          <p:cNvPr id="19" name="Text 17"/>
          <p:cNvSpPr/>
          <p:nvPr/>
        </p:nvSpPr>
        <p:spPr>
          <a:xfrm>
            <a:off x="1097280" y="320040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Gender gap analysis, funnel data, product-fit audits, reputation metrics. Impossible to ignore, measurable, and tied to portfolio outcomes.</a:t>
            </a:r>
            <a:endParaRPr lang="en-US" sz="1000" dirty="0"/>
          </a:p>
        </p:txBody>
      </p:sp>
      <p:sp>
        <p:nvSpPr>
          <p:cNvPr id="20" name="Shape 18"/>
          <p:cNvSpPr/>
          <p:nvPr/>
        </p:nvSpPr>
        <p:spPr>
          <a:xfrm>
            <a:off x="6309360" y="2651760"/>
            <a:ext cx="54864" cy="1463040"/>
          </a:xfrm>
          <a:prstGeom prst="rect">
            <a:avLst>
              <a:gd name="adj" fmla="val 50000"/>
            </a:avLst>
          </a:prstGeom>
          <a:solidFill>
            <a:srgbClr val="F5B896"/>
          </a:solidFill>
          <a:ln w="12700">
            <a:solidFill>
              <a:srgbClr val="333333"/>
            </a:solidFill>
            <a:prstDash val="solid"/>
          </a:ln>
        </p:spPr>
      </p:sp>
      <p:sp>
        <p:nvSpPr>
          <p:cNvPr id="21" name="Shape 19"/>
          <p:cNvSpPr/>
          <p:nvPr/>
        </p:nvSpPr>
        <p:spPr>
          <a:xfrm>
            <a:off x="6419088" y="2651760"/>
            <a:ext cx="5349240" cy="1463040"/>
          </a:xfrm>
          <a:prstGeom prst="roundRect">
            <a:avLst>
              <a:gd name="adj" fmla="val 12500"/>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2" name="Shape 20"/>
          <p:cNvSpPr/>
          <p:nvPr/>
        </p:nvSpPr>
        <p:spPr>
          <a:xfrm>
            <a:off x="6556248" y="2688336"/>
            <a:ext cx="5074920" cy="22860"/>
          </a:xfrm>
          <a:prstGeom prst="rect">
            <a:avLst/>
          </a:prstGeom>
          <a:solidFill>
            <a:srgbClr val="FFFFFF">
              <a:alpha val="90000"/>
            </a:srgbClr>
          </a:solidFill>
          <a:ln w="12700">
            <a:solidFill>
              <a:srgbClr val="333333"/>
            </a:solidFill>
            <a:prstDash val="solid"/>
          </a:ln>
        </p:spPr>
      </p:sp>
      <p:sp>
        <p:nvSpPr>
          <p:cNvPr id="23" name="Text 21"/>
          <p:cNvSpPr/>
          <p:nvPr/>
        </p:nvSpPr>
        <p:spPr>
          <a:xfrm>
            <a:off x="667512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Exclusive FS focus</a:t>
            </a:r>
            <a:endParaRPr lang="en-US" sz="1300" dirty="0"/>
          </a:p>
        </p:txBody>
      </p:sp>
      <p:sp>
        <p:nvSpPr>
          <p:cNvPr id="24" name="Text 22"/>
          <p:cNvSpPr/>
          <p:nvPr/>
        </p:nvSpPr>
        <p:spPr>
          <a:xfrm>
            <a:off x="6675120" y="320040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Deep sector expertise in banking, wealth management and insurance. We do not chase adjacent DEI work. Precision beats scope.</a:t>
            </a:r>
            <a:endParaRPr lang="en-US" sz="1000" dirty="0"/>
          </a:p>
        </p:txBody>
      </p:sp>
      <p:sp>
        <p:nvSpPr>
          <p:cNvPr id="25" name="Shape 23"/>
          <p:cNvSpPr/>
          <p:nvPr/>
        </p:nvSpPr>
        <p:spPr>
          <a:xfrm>
            <a:off x="731520" y="4343400"/>
            <a:ext cx="54864" cy="1463040"/>
          </a:xfrm>
          <a:prstGeom prst="rect">
            <a:avLst>
              <a:gd name="adj" fmla="val 50000"/>
            </a:avLst>
          </a:prstGeom>
          <a:solidFill>
            <a:srgbClr val="F2D080"/>
          </a:solidFill>
          <a:ln w="12700">
            <a:solidFill>
              <a:srgbClr val="333333"/>
            </a:solidFill>
            <a:prstDash val="solid"/>
          </a:ln>
        </p:spPr>
      </p:sp>
      <p:sp>
        <p:nvSpPr>
          <p:cNvPr id="26" name="Shape 24"/>
          <p:cNvSpPr/>
          <p:nvPr/>
        </p:nvSpPr>
        <p:spPr>
          <a:xfrm>
            <a:off x="841248" y="4343400"/>
            <a:ext cx="5349240" cy="1463040"/>
          </a:xfrm>
          <a:prstGeom prst="roundRect">
            <a:avLst>
              <a:gd name="adj" fmla="val 12500"/>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7" name="Shape 25"/>
          <p:cNvSpPr/>
          <p:nvPr/>
        </p:nvSpPr>
        <p:spPr>
          <a:xfrm>
            <a:off x="978408" y="4379976"/>
            <a:ext cx="5074920" cy="22860"/>
          </a:xfrm>
          <a:prstGeom prst="rect">
            <a:avLst/>
          </a:prstGeom>
          <a:solidFill>
            <a:srgbClr val="FFFFFF">
              <a:alpha val="90000"/>
            </a:srgbClr>
          </a:solidFill>
          <a:ln w="12700">
            <a:solidFill>
              <a:srgbClr val="333333"/>
            </a:solidFill>
            <a:prstDash val="solid"/>
          </a:ln>
        </p:spPr>
      </p:sp>
      <p:sp>
        <p:nvSpPr>
          <p:cNvPr id="28" name="Text 26"/>
          <p:cNvSpPr/>
          <p:nvPr/>
        </p:nvSpPr>
        <p:spPr>
          <a:xfrm>
            <a:off x="1097280" y="45079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Proven at 60-country scale</a:t>
            </a:r>
            <a:endParaRPr lang="en-US" sz="1300" dirty="0"/>
          </a:p>
        </p:txBody>
      </p:sp>
      <p:sp>
        <p:nvSpPr>
          <p:cNvPr id="29" name="Text 27"/>
          <p:cNvSpPr/>
          <p:nvPr/>
        </p:nvSpPr>
        <p:spPr>
          <a:xfrm>
            <a:off x="1097280" y="489204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The World Bank mandate signals market infrastructure — not a pilot. The same IP that serves WB powers our commercial clients at home.</a:t>
            </a:r>
            <a:endParaRPr lang="en-US" sz="1000" dirty="0"/>
          </a:p>
        </p:txBody>
      </p:sp>
      <p:sp>
        <p:nvSpPr>
          <p:cNvPr id="30" name="Shape 28"/>
          <p:cNvSpPr/>
          <p:nvPr/>
        </p:nvSpPr>
        <p:spPr>
          <a:xfrm>
            <a:off x="6309360" y="4343400"/>
            <a:ext cx="54864" cy="1463040"/>
          </a:xfrm>
          <a:prstGeom prst="rect">
            <a:avLst>
              <a:gd name="adj" fmla="val 50000"/>
            </a:avLst>
          </a:prstGeom>
          <a:solidFill>
            <a:srgbClr val="9FD4B0"/>
          </a:solidFill>
          <a:ln w="12700">
            <a:solidFill>
              <a:srgbClr val="333333"/>
            </a:solidFill>
            <a:prstDash val="solid"/>
          </a:ln>
        </p:spPr>
      </p:sp>
      <p:sp>
        <p:nvSpPr>
          <p:cNvPr id="31" name="Shape 29"/>
          <p:cNvSpPr/>
          <p:nvPr/>
        </p:nvSpPr>
        <p:spPr>
          <a:xfrm>
            <a:off x="6419088" y="4343400"/>
            <a:ext cx="5349240" cy="1463040"/>
          </a:xfrm>
          <a:prstGeom prst="roundRect">
            <a:avLst>
              <a:gd name="adj" fmla="val 12500"/>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2" name="Shape 30"/>
          <p:cNvSpPr/>
          <p:nvPr/>
        </p:nvSpPr>
        <p:spPr>
          <a:xfrm>
            <a:off x="6556248" y="4379976"/>
            <a:ext cx="5074920" cy="22860"/>
          </a:xfrm>
          <a:prstGeom prst="rect">
            <a:avLst/>
          </a:prstGeom>
          <a:solidFill>
            <a:srgbClr val="FFFFFF">
              <a:alpha val="90000"/>
            </a:srgbClr>
          </a:solidFill>
          <a:ln w="12700">
            <a:solidFill>
              <a:srgbClr val="333333"/>
            </a:solidFill>
            <a:prstDash val="solid"/>
          </a:ln>
        </p:spPr>
      </p:sp>
      <p:sp>
        <p:nvSpPr>
          <p:cNvPr id="33" name="Text 31"/>
          <p:cNvSpPr/>
          <p:nvPr/>
        </p:nvSpPr>
        <p:spPr>
          <a:xfrm>
            <a:off x="6675120" y="45079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Doors no budget can open</a:t>
            </a:r>
            <a:endParaRPr lang="en-US" sz="1300" dirty="0"/>
          </a:p>
        </p:txBody>
      </p:sp>
      <p:sp>
        <p:nvSpPr>
          <p:cNvPr id="34" name="Text 32"/>
          <p:cNvSpPr/>
          <p:nvPr/>
        </p:nvSpPr>
        <p:spPr>
          <a:xfrm>
            <a:off x="6675120" y="489204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Founder bench reaches ministers, royalty and global C-suites. First conversations happen on personal authority — not cold outreach.</a:t>
            </a:r>
            <a:endParaRPr lang="en-US" sz="1000" dirty="0"/>
          </a:p>
        </p:txBody>
      </p:sp>
      <p:sp>
        <p:nvSpPr>
          <p:cNvPr id="35" name="Shape 33"/>
          <p:cNvSpPr/>
          <p:nvPr/>
        </p:nvSpPr>
        <p:spPr>
          <a:xfrm>
            <a:off x="731520" y="6172200"/>
            <a:ext cx="960120"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36" name="Text 34"/>
          <p:cNvSpPr/>
          <p:nvPr/>
        </p:nvSpPr>
        <p:spPr>
          <a:xfrm>
            <a:off x="731520" y="6172200"/>
            <a:ext cx="960120"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CLIENT-SIDE</a:t>
            </a:r>
            <a:endParaRPr lang="en-US" sz="750" dirty="0"/>
          </a:p>
        </p:txBody>
      </p:sp>
      <p:sp>
        <p:nvSpPr>
          <p:cNvPr id="37" name="Shape 35"/>
          <p:cNvSpPr/>
          <p:nvPr/>
        </p:nvSpPr>
        <p:spPr>
          <a:xfrm>
            <a:off x="1828800" y="6172200"/>
            <a:ext cx="1252728"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38" name="Text 36"/>
          <p:cNvSpPr/>
          <p:nvPr/>
        </p:nvSpPr>
        <p:spPr>
          <a:xfrm>
            <a:off x="1828800" y="6172200"/>
            <a:ext cx="1252728"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FINANCIAL-GRADE</a:t>
            </a:r>
            <a:endParaRPr lang="en-US" sz="750" dirty="0"/>
          </a:p>
        </p:txBody>
      </p:sp>
      <p:sp>
        <p:nvSpPr>
          <p:cNvPr id="39" name="Shape 37"/>
          <p:cNvSpPr/>
          <p:nvPr/>
        </p:nvSpPr>
        <p:spPr>
          <a:xfrm>
            <a:off x="3218688" y="6172200"/>
            <a:ext cx="667512"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40" name="Text 38"/>
          <p:cNvSpPr/>
          <p:nvPr/>
        </p:nvSpPr>
        <p:spPr>
          <a:xfrm>
            <a:off x="3218688" y="6172200"/>
            <a:ext cx="667512"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FS-ONLY</a:t>
            </a:r>
            <a:endParaRPr lang="en-US" sz="750" dirty="0"/>
          </a:p>
        </p:txBody>
      </p:sp>
      <p:sp>
        <p:nvSpPr>
          <p:cNvPr id="41" name="Shape 39"/>
          <p:cNvSpPr/>
          <p:nvPr/>
        </p:nvSpPr>
        <p:spPr>
          <a:xfrm>
            <a:off x="4023360" y="6172200"/>
            <a:ext cx="1399032"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42" name="Text 40"/>
          <p:cNvSpPr/>
          <p:nvPr/>
        </p:nvSpPr>
        <p:spPr>
          <a:xfrm>
            <a:off x="4023360" y="6172200"/>
            <a:ext cx="1399032"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WORLD BANK BACKED</a:t>
            </a:r>
            <a:endParaRPr lang="en-US" sz="750" dirty="0"/>
          </a:p>
        </p:txBody>
      </p:sp>
      <p:sp>
        <p:nvSpPr>
          <p:cNvPr id="43" name="Shape 41"/>
          <p:cNvSpPr/>
          <p:nvPr/>
        </p:nvSpPr>
        <p:spPr>
          <a:xfrm>
            <a:off x="5559552" y="6172200"/>
            <a:ext cx="1984248"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44" name="Text 42"/>
          <p:cNvSpPr/>
          <p:nvPr/>
        </p:nvSpPr>
        <p:spPr>
          <a:xfrm>
            <a:off x="5559552" y="6172200"/>
            <a:ext cx="1984248"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CERTIFIED PARTNER NETWORK</a:t>
            </a:r>
            <a:endParaRPr lang="en-US" sz="750" dirty="0"/>
          </a:p>
        </p:txBody>
      </p:sp>
      <p:sp>
        <p:nvSpPr>
          <p:cNvPr id="45" name="Shape 43"/>
          <p:cNvSpPr/>
          <p:nvPr/>
        </p:nvSpPr>
        <p:spPr>
          <a:xfrm>
            <a:off x="7680960" y="6172200"/>
            <a:ext cx="1472184"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46" name="Text 44"/>
          <p:cNvSpPr/>
          <p:nvPr/>
        </p:nvSpPr>
        <p:spPr>
          <a:xfrm>
            <a:off x="7680960" y="6172200"/>
            <a:ext cx="1472184"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NO OVERHEAD EMPIRE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06 · The Gender Capital Lab</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06 · THE GENDER CAPITAL LAB</a:t>
            </a:r>
            <a:endParaRPr lang="en-US" sz="800" dirty="0"/>
          </a:p>
        </p:txBody>
      </p:sp>
      <p:sp>
        <p:nvSpPr>
          <p:cNvPr id="13" name="Text 11"/>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 four-step methodology from diagnosis to embedded, scaled change.</a:t>
            </a:r>
            <a:endParaRPr lang="en-US" sz="2200" dirty="0"/>
          </a:p>
        </p:txBody>
      </p:sp>
      <p:sp>
        <p:nvSpPr>
          <p:cNvPr id="14" name="Text 12"/>
          <p:cNvSpPr/>
          <p:nvPr/>
        </p:nvSpPr>
        <p:spPr>
          <a:xfrm>
            <a:off x="731520" y="1874520"/>
            <a:ext cx="105156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The operating system of the firm. Every engagement — from a World Bank country deployment to a single corporate advisory — runs through this loop.</a:t>
            </a:r>
            <a:endParaRPr lang="en-US" sz="1100" dirty="0"/>
          </a:p>
        </p:txBody>
      </p:sp>
      <p:sp>
        <p:nvSpPr>
          <p:cNvPr id="15" name="Shape 13"/>
          <p:cNvSpPr/>
          <p:nvPr/>
        </p:nvSpPr>
        <p:spPr>
          <a:xfrm>
            <a:off x="731520" y="2697480"/>
            <a:ext cx="2606040" cy="3063240"/>
          </a:xfrm>
          <a:prstGeom prst="roundRect">
            <a:avLst>
              <a:gd name="adj" fmla="val 7018"/>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6" name="Shape 14"/>
          <p:cNvSpPr/>
          <p:nvPr/>
        </p:nvSpPr>
        <p:spPr>
          <a:xfrm>
            <a:off x="868680" y="2734056"/>
            <a:ext cx="2331720" cy="22860"/>
          </a:xfrm>
          <a:prstGeom prst="rect">
            <a:avLst/>
          </a:prstGeom>
          <a:solidFill>
            <a:srgbClr val="FFFFFF">
              <a:alpha val="90000"/>
            </a:srgbClr>
          </a:solidFill>
          <a:ln w="12700">
            <a:solidFill>
              <a:srgbClr val="333333"/>
            </a:solidFill>
            <a:prstDash val="solid"/>
          </a:ln>
        </p:spPr>
      </p:sp>
      <p:sp>
        <p:nvSpPr>
          <p:cNvPr id="17" name="Text 15"/>
          <p:cNvSpPr/>
          <p:nvPr/>
        </p:nvSpPr>
        <p:spPr>
          <a:xfrm>
            <a:off x="1005840" y="2816352"/>
            <a:ext cx="914400" cy="365760"/>
          </a:xfrm>
          <a:prstGeom prst="rect">
            <a:avLst/>
          </a:prstGeom>
          <a:noFill/>
          <a:ln/>
        </p:spPr>
        <p:txBody>
          <a:bodyPr wrap="square" rtlCol="0" anchor="ctr"/>
          <a:lstStyle/>
          <a:p>
            <a:pPr indent="0" marL="0">
              <a:buNone/>
            </a:pPr>
            <a:r>
              <a:rPr lang="en-US" sz="1100" b="1" spc="200" kern="0" dirty="0">
                <a:solidFill>
                  <a:srgbClr val="6DC0C8"/>
                </a:solidFill>
                <a:latin typeface="Arial" pitchFamily="34" charset="0"/>
                <a:ea typeface="Arial" pitchFamily="34" charset="-122"/>
                <a:cs typeface="Arial" pitchFamily="34" charset="-120"/>
              </a:rPr>
              <a:t>01</a:t>
            </a:r>
            <a:endParaRPr lang="en-US" sz="1100" dirty="0"/>
          </a:p>
        </p:txBody>
      </p:sp>
      <p:sp>
        <p:nvSpPr>
          <p:cNvPr id="18" name="Text 16"/>
          <p:cNvSpPr/>
          <p:nvPr/>
        </p:nvSpPr>
        <p:spPr>
          <a:xfrm>
            <a:off x="100584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Diagnose</a:t>
            </a:r>
            <a:endParaRPr lang="en-US" sz="1500" dirty="0"/>
          </a:p>
        </p:txBody>
      </p:sp>
      <p:sp>
        <p:nvSpPr>
          <p:cNvPr id="19" name="Text 17"/>
          <p:cNvSpPr/>
          <p:nvPr/>
        </p:nvSpPr>
        <p:spPr>
          <a:xfrm>
            <a:off x="100584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GENDER LENS FRAMEWORK</a:t>
            </a:r>
            <a:endParaRPr lang="en-US" sz="750" dirty="0"/>
          </a:p>
        </p:txBody>
      </p:sp>
      <p:sp>
        <p:nvSpPr>
          <p:cNvPr id="20" name="Text 18"/>
          <p:cNvSpPr/>
          <p:nvPr/>
        </p:nvSpPr>
        <p:spPr>
          <a:xfrm>
            <a:off x="100584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Data-driven analysis of where an FI is leaving money on the table: gender gap in portfolio, funnel analysis, product-fit audit, client behaviour mapping.</a:t>
            </a:r>
            <a:endParaRPr lang="en-US" sz="950" dirty="0"/>
          </a:p>
        </p:txBody>
      </p:sp>
      <p:sp>
        <p:nvSpPr>
          <p:cNvPr id="21" name="Shape 19"/>
          <p:cNvSpPr/>
          <p:nvPr/>
        </p:nvSpPr>
        <p:spPr>
          <a:xfrm>
            <a:off x="960120" y="5074920"/>
            <a:ext cx="2194560" cy="548640"/>
          </a:xfrm>
          <a:prstGeom prst="roundRect">
            <a:avLst>
              <a:gd name="adj" fmla="val 13333"/>
            </a:avLst>
          </a:prstGeom>
          <a:solidFill>
            <a:srgbClr val="FFFFFF">
              <a:alpha val="65000"/>
            </a:srgbClr>
          </a:solidFill>
          <a:ln w="6350">
            <a:solidFill>
              <a:srgbClr val="FFFFFF">
                <a:alpha val="80000"/>
              </a:srgbClr>
            </a:solidFill>
            <a:prstDash val="solid"/>
          </a:ln>
        </p:spPr>
      </p:sp>
      <p:sp>
        <p:nvSpPr>
          <p:cNvPr id="22" name="Text 20"/>
          <p:cNvSpPr/>
          <p:nvPr/>
        </p:nvSpPr>
        <p:spPr>
          <a:xfrm>
            <a:off x="105156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23" name="Text 21"/>
          <p:cNvSpPr/>
          <p:nvPr/>
        </p:nvSpPr>
        <p:spPr>
          <a:xfrm>
            <a:off x="105156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Opportunity map with quantified business potential.</a:t>
            </a:r>
            <a:endParaRPr lang="en-US" sz="800" dirty="0"/>
          </a:p>
        </p:txBody>
      </p:sp>
      <p:sp>
        <p:nvSpPr>
          <p:cNvPr id="24" name="Shape 22"/>
          <p:cNvSpPr/>
          <p:nvPr/>
        </p:nvSpPr>
        <p:spPr>
          <a:xfrm>
            <a:off x="3520440" y="2697480"/>
            <a:ext cx="2606040" cy="3063240"/>
          </a:xfrm>
          <a:prstGeom prst="roundRect">
            <a:avLst>
              <a:gd name="adj" fmla="val 7018"/>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5" name="Shape 23"/>
          <p:cNvSpPr/>
          <p:nvPr/>
        </p:nvSpPr>
        <p:spPr>
          <a:xfrm>
            <a:off x="3657600" y="2734056"/>
            <a:ext cx="2331720" cy="22860"/>
          </a:xfrm>
          <a:prstGeom prst="rect">
            <a:avLst/>
          </a:prstGeom>
          <a:solidFill>
            <a:srgbClr val="FFFFFF">
              <a:alpha val="90000"/>
            </a:srgbClr>
          </a:solidFill>
          <a:ln w="12700">
            <a:solidFill>
              <a:srgbClr val="333333"/>
            </a:solidFill>
            <a:prstDash val="solid"/>
          </a:ln>
        </p:spPr>
      </p:sp>
      <p:sp>
        <p:nvSpPr>
          <p:cNvPr id="26" name="Text 24"/>
          <p:cNvSpPr/>
          <p:nvPr/>
        </p:nvSpPr>
        <p:spPr>
          <a:xfrm>
            <a:off x="3794760" y="2816352"/>
            <a:ext cx="914400" cy="365760"/>
          </a:xfrm>
          <a:prstGeom prst="rect">
            <a:avLst/>
          </a:prstGeom>
          <a:noFill/>
          <a:ln/>
        </p:spPr>
        <p:txBody>
          <a:bodyPr wrap="square" rtlCol="0" anchor="ctr"/>
          <a:lstStyle/>
          <a:p>
            <a:pPr indent="0" marL="0">
              <a:buNone/>
            </a:pPr>
            <a:r>
              <a:rPr lang="en-US" sz="1100" b="1" spc="200" kern="0" dirty="0">
                <a:solidFill>
                  <a:srgbClr val="F5B896"/>
                </a:solidFill>
                <a:latin typeface="Arial" pitchFamily="34" charset="0"/>
                <a:ea typeface="Arial" pitchFamily="34" charset="-122"/>
                <a:cs typeface="Arial" pitchFamily="34" charset="-120"/>
              </a:rPr>
              <a:t>02</a:t>
            </a:r>
            <a:endParaRPr lang="en-US" sz="1100" dirty="0"/>
          </a:p>
        </p:txBody>
      </p:sp>
      <p:sp>
        <p:nvSpPr>
          <p:cNvPr id="27" name="Text 25"/>
          <p:cNvSpPr/>
          <p:nvPr/>
        </p:nvSpPr>
        <p:spPr>
          <a:xfrm>
            <a:off x="379476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Strategise</a:t>
            </a:r>
            <a:endParaRPr lang="en-US" sz="1500" dirty="0"/>
          </a:p>
        </p:txBody>
      </p:sp>
      <p:sp>
        <p:nvSpPr>
          <p:cNvPr id="28" name="Text 26"/>
          <p:cNvSpPr/>
          <p:nvPr/>
        </p:nvSpPr>
        <p:spPr>
          <a:xfrm>
            <a:off x="379476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OPPORTUNITY MAP</a:t>
            </a:r>
            <a:endParaRPr lang="en-US" sz="750" dirty="0"/>
          </a:p>
        </p:txBody>
      </p:sp>
      <p:sp>
        <p:nvSpPr>
          <p:cNvPr id="29" name="Text 27"/>
          <p:cNvSpPr/>
          <p:nvPr/>
        </p:nvSpPr>
        <p:spPr>
          <a:xfrm>
            <a:off x="379476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Turn diagnosis into an executive-ready strategy. Gender-lens finance framed as a commercial imperative.</a:t>
            </a:r>
            <a:endParaRPr lang="en-US" sz="950" dirty="0"/>
          </a:p>
        </p:txBody>
      </p:sp>
      <p:sp>
        <p:nvSpPr>
          <p:cNvPr id="30" name="Shape 28"/>
          <p:cNvSpPr/>
          <p:nvPr/>
        </p:nvSpPr>
        <p:spPr>
          <a:xfrm>
            <a:off x="3749040" y="5074920"/>
            <a:ext cx="2194560" cy="548640"/>
          </a:xfrm>
          <a:prstGeom prst="roundRect">
            <a:avLst>
              <a:gd name="adj" fmla="val 13333"/>
            </a:avLst>
          </a:prstGeom>
          <a:solidFill>
            <a:srgbClr val="FFFFFF">
              <a:alpha val="65000"/>
            </a:srgbClr>
          </a:solidFill>
          <a:ln w="6350">
            <a:solidFill>
              <a:srgbClr val="FFFFFF">
                <a:alpha val="80000"/>
              </a:srgbClr>
            </a:solidFill>
            <a:prstDash val="solid"/>
          </a:ln>
        </p:spPr>
      </p:sp>
      <p:sp>
        <p:nvSpPr>
          <p:cNvPr id="31" name="Text 29"/>
          <p:cNvSpPr/>
          <p:nvPr/>
        </p:nvSpPr>
        <p:spPr>
          <a:xfrm>
            <a:off x="384048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32" name="Text 30"/>
          <p:cNvSpPr/>
          <p:nvPr/>
        </p:nvSpPr>
        <p:spPr>
          <a:xfrm>
            <a:off x="384048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Investment-grade strategy &amp; business case.</a:t>
            </a:r>
            <a:endParaRPr lang="en-US" sz="800" dirty="0"/>
          </a:p>
        </p:txBody>
      </p:sp>
      <p:sp>
        <p:nvSpPr>
          <p:cNvPr id="33" name="Shape 31"/>
          <p:cNvSpPr/>
          <p:nvPr/>
        </p:nvSpPr>
        <p:spPr>
          <a:xfrm>
            <a:off x="6309360" y="2697480"/>
            <a:ext cx="2606040" cy="3063240"/>
          </a:xfrm>
          <a:prstGeom prst="roundRect">
            <a:avLst>
              <a:gd name="adj" fmla="val 7018"/>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4" name="Shape 32"/>
          <p:cNvSpPr/>
          <p:nvPr/>
        </p:nvSpPr>
        <p:spPr>
          <a:xfrm>
            <a:off x="6446520" y="2734056"/>
            <a:ext cx="2331720" cy="22860"/>
          </a:xfrm>
          <a:prstGeom prst="rect">
            <a:avLst/>
          </a:prstGeom>
          <a:solidFill>
            <a:srgbClr val="FFFFFF">
              <a:alpha val="90000"/>
            </a:srgbClr>
          </a:solidFill>
          <a:ln w="12700">
            <a:solidFill>
              <a:srgbClr val="333333"/>
            </a:solidFill>
            <a:prstDash val="solid"/>
          </a:ln>
        </p:spPr>
      </p:sp>
      <p:sp>
        <p:nvSpPr>
          <p:cNvPr id="35" name="Text 33"/>
          <p:cNvSpPr/>
          <p:nvPr/>
        </p:nvSpPr>
        <p:spPr>
          <a:xfrm>
            <a:off x="6583680" y="2816352"/>
            <a:ext cx="914400" cy="365760"/>
          </a:xfrm>
          <a:prstGeom prst="rect">
            <a:avLst/>
          </a:prstGeom>
          <a:noFill/>
          <a:ln/>
        </p:spPr>
        <p:txBody>
          <a:bodyPr wrap="square" rtlCol="0" anchor="ctr"/>
          <a:lstStyle/>
          <a:p>
            <a:pPr indent="0" marL="0">
              <a:buNone/>
            </a:pPr>
            <a:r>
              <a:rPr lang="en-US" sz="1100" b="1" spc="200" kern="0" dirty="0">
                <a:solidFill>
                  <a:srgbClr val="F2D080"/>
                </a:solidFill>
                <a:latin typeface="Arial" pitchFamily="34" charset="0"/>
                <a:ea typeface="Arial" pitchFamily="34" charset="-122"/>
                <a:cs typeface="Arial" pitchFamily="34" charset="-120"/>
              </a:rPr>
              <a:t>03</a:t>
            </a:r>
            <a:endParaRPr lang="en-US" sz="1100" dirty="0"/>
          </a:p>
        </p:txBody>
      </p:sp>
      <p:sp>
        <p:nvSpPr>
          <p:cNvPr id="36" name="Text 34"/>
          <p:cNvSpPr/>
          <p:nvPr/>
        </p:nvSpPr>
        <p:spPr>
          <a:xfrm>
            <a:off x="658368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Build &amp; Test</a:t>
            </a:r>
            <a:endParaRPr lang="en-US" sz="1500" dirty="0"/>
          </a:p>
        </p:txBody>
      </p:sp>
      <p:sp>
        <p:nvSpPr>
          <p:cNvPr id="37" name="Text 35"/>
          <p:cNvSpPr/>
          <p:nvPr/>
        </p:nvSpPr>
        <p:spPr>
          <a:xfrm>
            <a:off x="658368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ACADEMY + PILOTS</a:t>
            </a:r>
            <a:endParaRPr lang="en-US" sz="750" dirty="0"/>
          </a:p>
        </p:txBody>
      </p:sp>
      <p:sp>
        <p:nvSpPr>
          <p:cNvPr id="38" name="Text 36"/>
          <p:cNvSpPr/>
          <p:nvPr/>
        </p:nvSpPr>
        <p:spPr>
          <a:xfrm>
            <a:off x="658368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Train internal teams, build certified practitioners (Associate → Advisor → Fellow), pilot improved products and propositions in safe-to-fail environments.</a:t>
            </a:r>
            <a:endParaRPr lang="en-US" sz="950" dirty="0"/>
          </a:p>
        </p:txBody>
      </p:sp>
      <p:sp>
        <p:nvSpPr>
          <p:cNvPr id="39" name="Shape 37"/>
          <p:cNvSpPr/>
          <p:nvPr/>
        </p:nvSpPr>
        <p:spPr>
          <a:xfrm>
            <a:off x="6537960" y="5074920"/>
            <a:ext cx="2194560" cy="548640"/>
          </a:xfrm>
          <a:prstGeom prst="roundRect">
            <a:avLst>
              <a:gd name="adj" fmla="val 13333"/>
            </a:avLst>
          </a:prstGeom>
          <a:solidFill>
            <a:srgbClr val="FFFFFF">
              <a:alpha val="65000"/>
            </a:srgbClr>
          </a:solidFill>
          <a:ln w="6350">
            <a:solidFill>
              <a:srgbClr val="FFFFFF">
                <a:alpha val="80000"/>
              </a:srgbClr>
            </a:solidFill>
            <a:prstDash val="solid"/>
          </a:ln>
        </p:spPr>
      </p:sp>
      <p:sp>
        <p:nvSpPr>
          <p:cNvPr id="40" name="Text 38"/>
          <p:cNvSpPr/>
          <p:nvPr/>
        </p:nvSpPr>
        <p:spPr>
          <a:xfrm>
            <a:off x="662940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41" name="Text 39"/>
          <p:cNvSpPr/>
          <p:nvPr/>
        </p:nvSpPr>
        <p:spPr>
          <a:xfrm>
            <a:off x="662940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Validated solutions + certified practitioners.</a:t>
            </a:r>
            <a:endParaRPr lang="en-US" sz="800" dirty="0"/>
          </a:p>
        </p:txBody>
      </p:sp>
      <p:sp>
        <p:nvSpPr>
          <p:cNvPr id="42" name="Shape 40"/>
          <p:cNvSpPr/>
          <p:nvPr/>
        </p:nvSpPr>
        <p:spPr>
          <a:xfrm>
            <a:off x="9098280" y="2697480"/>
            <a:ext cx="2606040" cy="3063240"/>
          </a:xfrm>
          <a:prstGeom prst="roundRect">
            <a:avLst>
              <a:gd name="adj" fmla="val 7018"/>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43" name="Shape 41"/>
          <p:cNvSpPr/>
          <p:nvPr/>
        </p:nvSpPr>
        <p:spPr>
          <a:xfrm>
            <a:off x="9235440" y="2734056"/>
            <a:ext cx="2331720" cy="22860"/>
          </a:xfrm>
          <a:prstGeom prst="rect">
            <a:avLst/>
          </a:prstGeom>
          <a:solidFill>
            <a:srgbClr val="FFFFFF">
              <a:alpha val="90000"/>
            </a:srgbClr>
          </a:solidFill>
          <a:ln w="12700">
            <a:solidFill>
              <a:srgbClr val="333333"/>
            </a:solidFill>
            <a:prstDash val="solid"/>
          </a:ln>
        </p:spPr>
      </p:sp>
      <p:sp>
        <p:nvSpPr>
          <p:cNvPr id="44" name="Text 42"/>
          <p:cNvSpPr/>
          <p:nvPr/>
        </p:nvSpPr>
        <p:spPr>
          <a:xfrm>
            <a:off x="9372600" y="2816352"/>
            <a:ext cx="914400" cy="365760"/>
          </a:xfrm>
          <a:prstGeom prst="rect">
            <a:avLst/>
          </a:prstGeom>
          <a:noFill/>
          <a:ln/>
        </p:spPr>
        <p:txBody>
          <a:bodyPr wrap="square" rtlCol="0" anchor="ctr"/>
          <a:lstStyle/>
          <a:p>
            <a:pPr indent="0" marL="0">
              <a:buNone/>
            </a:pPr>
            <a:r>
              <a:rPr lang="en-US" sz="1100" b="1" spc="200" kern="0" dirty="0">
                <a:solidFill>
                  <a:srgbClr val="9FD4B0"/>
                </a:solidFill>
                <a:latin typeface="Arial" pitchFamily="34" charset="0"/>
                <a:ea typeface="Arial" pitchFamily="34" charset="-122"/>
                <a:cs typeface="Arial" pitchFamily="34" charset="-120"/>
              </a:rPr>
              <a:t>04</a:t>
            </a:r>
            <a:endParaRPr lang="en-US" sz="1100" dirty="0"/>
          </a:p>
        </p:txBody>
      </p:sp>
      <p:sp>
        <p:nvSpPr>
          <p:cNvPr id="45" name="Text 43"/>
          <p:cNvSpPr/>
          <p:nvPr/>
        </p:nvSpPr>
        <p:spPr>
          <a:xfrm>
            <a:off x="937260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Measure &amp; Scale</a:t>
            </a:r>
            <a:endParaRPr lang="en-US" sz="1500" dirty="0"/>
          </a:p>
        </p:txBody>
      </p:sp>
      <p:sp>
        <p:nvSpPr>
          <p:cNvPr id="46" name="Text 44"/>
          <p:cNvSpPr/>
          <p:nvPr/>
        </p:nvSpPr>
        <p:spPr>
          <a:xfrm>
            <a:off x="937260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EMBED &amp; GROW</a:t>
            </a:r>
            <a:endParaRPr lang="en-US" sz="750" dirty="0"/>
          </a:p>
        </p:txBody>
      </p:sp>
      <p:sp>
        <p:nvSpPr>
          <p:cNvPr id="47" name="Text 45"/>
          <p:cNvSpPr/>
          <p:nvPr/>
        </p:nvSpPr>
        <p:spPr>
          <a:xfrm>
            <a:off x="937260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Rigorous impact measurement, embed proven interventions across the organisation and build the case for scaling — internally and as a market signal.</a:t>
            </a:r>
            <a:endParaRPr lang="en-US" sz="950" dirty="0"/>
          </a:p>
        </p:txBody>
      </p:sp>
      <p:sp>
        <p:nvSpPr>
          <p:cNvPr id="48" name="Shape 46"/>
          <p:cNvSpPr/>
          <p:nvPr/>
        </p:nvSpPr>
        <p:spPr>
          <a:xfrm>
            <a:off x="9326880" y="5074920"/>
            <a:ext cx="2194560" cy="548640"/>
          </a:xfrm>
          <a:prstGeom prst="roundRect">
            <a:avLst>
              <a:gd name="adj" fmla="val 13333"/>
            </a:avLst>
          </a:prstGeom>
          <a:solidFill>
            <a:srgbClr val="FFFFFF">
              <a:alpha val="65000"/>
            </a:srgbClr>
          </a:solidFill>
          <a:ln w="6350">
            <a:solidFill>
              <a:srgbClr val="FFFFFF">
                <a:alpha val="80000"/>
              </a:srgbClr>
            </a:solidFill>
            <a:prstDash val="solid"/>
          </a:ln>
        </p:spPr>
      </p:sp>
      <p:sp>
        <p:nvSpPr>
          <p:cNvPr id="49" name="Text 47"/>
          <p:cNvSpPr/>
          <p:nvPr/>
        </p:nvSpPr>
        <p:spPr>
          <a:xfrm>
            <a:off x="941832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50" name="Text 48"/>
          <p:cNvSpPr/>
          <p:nvPr/>
        </p:nvSpPr>
        <p:spPr>
          <a:xfrm>
            <a:off x="941832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Proven impact + scaling strategy.</a:t>
            </a:r>
            <a:endParaRPr lang="en-US" sz="800" dirty="0"/>
          </a:p>
        </p:txBody>
      </p:sp>
      <p:sp>
        <p:nvSpPr>
          <p:cNvPr id="51" name="Shape 49"/>
          <p:cNvSpPr/>
          <p:nvPr/>
        </p:nvSpPr>
        <p:spPr>
          <a:xfrm>
            <a:off x="731520" y="5943600"/>
            <a:ext cx="10698480" cy="685800"/>
          </a:xfrm>
          <a:prstGeom prst="roundRect">
            <a:avLst>
              <a:gd name="adj" fmla="val 26667"/>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52" name="Shape 50"/>
          <p:cNvSpPr/>
          <p:nvPr/>
        </p:nvSpPr>
        <p:spPr>
          <a:xfrm>
            <a:off x="868680" y="5980176"/>
            <a:ext cx="10424160" cy="22860"/>
          </a:xfrm>
          <a:prstGeom prst="rect">
            <a:avLst/>
          </a:prstGeom>
          <a:solidFill>
            <a:srgbClr val="FFFFFF">
              <a:alpha val="90000"/>
            </a:srgbClr>
          </a:solidFill>
          <a:ln w="12700">
            <a:solidFill>
              <a:srgbClr val="333333"/>
            </a:solidFill>
            <a:prstDash val="solid"/>
          </a:ln>
        </p:spPr>
      </p:sp>
      <p:sp>
        <p:nvSpPr>
          <p:cNvPr id="53" name="Text 51"/>
          <p:cNvSpPr/>
          <p:nvPr/>
        </p:nvSpPr>
        <p:spPr>
          <a:xfrm>
            <a:off x="914400" y="5998464"/>
            <a:ext cx="3657600" cy="22860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FIVE UNLOCKED DIMENSIONS</a:t>
            </a:r>
            <a:endParaRPr lang="en-US" sz="800" dirty="0"/>
          </a:p>
        </p:txBody>
      </p:sp>
      <p:sp>
        <p:nvSpPr>
          <p:cNvPr id="54" name="Text 52"/>
          <p:cNvSpPr/>
          <p:nvPr/>
        </p:nvSpPr>
        <p:spPr>
          <a:xfrm>
            <a:off x="914400" y="6245352"/>
            <a:ext cx="10332720" cy="365760"/>
          </a:xfrm>
          <a:prstGeom prst="rect">
            <a:avLst/>
          </a:prstGeom>
          <a:noFill/>
          <a:ln/>
        </p:spPr>
        <p:txBody>
          <a:bodyPr wrap="square" rtlCol="0" anchor="ctr"/>
          <a:lstStyle/>
          <a:p>
            <a:pPr indent="0" marL="0">
              <a:buNone/>
            </a:pPr>
            <a:r>
              <a:rPr lang="en-US" sz="1000" dirty="0">
                <a:solidFill>
                  <a:srgbClr val="0D3B2E">
                    <a:alpha val="80000"/>
                  </a:srgbClr>
                </a:solidFill>
                <a:latin typeface="Arial" pitchFamily="34" charset="0"/>
                <a:ea typeface="Arial" pitchFamily="34" charset="-122"/>
                <a:cs typeface="Arial" pitchFamily="34" charset="-120"/>
              </a:rPr>
              <a:t>Employee &amp; Organisation  ·  Data  ·  Marketing &amp; Communications  ·  Ecosystems  ·  Propositions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07 · Revenue Architecture</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07 · REVENUE ARCHITECTURE</a:t>
            </a:r>
            <a:endParaRPr lang="en-US" sz="800" dirty="0"/>
          </a:p>
        </p:txBody>
      </p:sp>
      <p:sp>
        <p:nvSpPr>
          <p:cNvPr id="13" name="Text 11"/>
          <p:cNvSpPr/>
          <p:nvPr/>
        </p:nvSpPr>
        <p:spPr>
          <a:xfrm>
            <a:off x="731520" y="1188720"/>
            <a:ext cx="100584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Five interlocking streams — each one widens client depth.</a:t>
            </a:r>
            <a:endParaRPr lang="en-US" sz="2200" dirty="0"/>
          </a:p>
        </p:txBody>
      </p:sp>
      <p:sp>
        <p:nvSpPr>
          <p:cNvPr id="14" name="Text 12"/>
          <p:cNvSpPr/>
          <p:nvPr/>
        </p:nvSpPr>
        <p:spPr>
          <a:xfrm>
            <a:off x="731520" y="1874520"/>
            <a:ext cx="10515600" cy="64008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A deliberate ladder: fast entry diagnostic, deep advisory, certification that builds the network, membership that monetises the community, and a platform that scales without headcount.</a:t>
            </a:r>
            <a:endParaRPr lang="en-US" sz="1100" dirty="0"/>
          </a:p>
        </p:txBody>
      </p:sp>
      <p:sp>
        <p:nvSpPr>
          <p:cNvPr id="15" name="Shape 13"/>
          <p:cNvSpPr/>
          <p:nvPr/>
        </p:nvSpPr>
        <p:spPr>
          <a:xfrm>
            <a:off x="731520" y="2697480"/>
            <a:ext cx="10698480" cy="3383280"/>
          </a:xfrm>
          <a:prstGeom prst="roundRect">
            <a:avLst>
              <a:gd name="adj" fmla="val 540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6" name="Shape 14"/>
          <p:cNvSpPr/>
          <p:nvPr/>
        </p:nvSpPr>
        <p:spPr>
          <a:xfrm>
            <a:off x="868680" y="2734056"/>
            <a:ext cx="10424160" cy="22860"/>
          </a:xfrm>
          <a:prstGeom prst="rect">
            <a:avLst/>
          </a:prstGeom>
          <a:solidFill>
            <a:srgbClr val="FFFFFF">
              <a:alpha val="90000"/>
            </a:srgbClr>
          </a:solidFill>
          <a:ln w="12700">
            <a:solidFill>
              <a:srgbClr val="333333"/>
            </a:solidFill>
            <a:prstDash val="solid"/>
          </a:ln>
        </p:spPr>
      </p:sp>
      <p:sp>
        <p:nvSpPr>
          <p:cNvPr id="17" name="Text 15"/>
          <p:cNvSpPr/>
          <p:nvPr/>
        </p:nvSpPr>
        <p:spPr>
          <a:xfrm>
            <a:off x="914400" y="2926080"/>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01</a:t>
            </a:r>
            <a:endParaRPr lang="en-US" sz="1400" dirty="0"/>
          </a:p>
        </p:txBody>
      </p:sp>
      <p:sp>
        <p:nvSpPr>
          <p:cNvPr id="18" name="Text 16"/>
          <p:cNvSpPr/>
          <p:nvPr/>
        </p:nvSpPr>
        <p:spPr>
          <a:xfrm>
            <a:off x="1554480" y="2926080"/>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Readiness Scan</a:t>
            </a:r>
            <a:endParaRPr lang="en-US" sz="1200" dirty="0"/>
          </a:p>
        </p:txBody>
      </p:sp>
      <p:sp>
        <p:nvSpPr>
          <p:cNvPr id="19" name="Text 17"/>
          <p:cNvSpPr/>
          <p:nvPr/>
        </p:nvSpPr>
        <p:spPr>
          <a:xfrm>
            <a:off x="4663440" y="2907792"/>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Entry-level AI-enabled diagnostic. Bias audit + A–D readiness rating. Creates the business case for the next step.</a:t>
            </a:r>
            <a:endParaRPr lang="en-US" sz="950" dirty="0"/>
          </a:p>
        </p:txBody>
      </p:sp>
      <p:sp>
        <p:nvSpPr>
          <p:cNvPr id="20" name="Text 18"/>
          <p:cNvSpPr/>
          <p:nvPr/>
        </p:nvSpPr>
        <p:spPr>
          <a:xfrm>
            <a:off x="10241280" y="2999232"/>
            <a:ext cx="1097280" cy="274320"/>
          </a:xfrm>
          <a:prstGeom prst="rect">
            <a:avLst/>
          </a:prstGeom>
          <a:noFill/>
          <a:ln/>
        </p:spPr>
        <p:txBody>
          <a:bodyPr wrap="square" rtlCol="0" anchor="ctr"/>
          <a:lstStyle/>
          <a:p>
            <a:pPr algn="r" indent="0" marL="0">
              <a:buNone/>
            </a:pPr>
            <a:r>
              <a:rPr lang="en-US" sz="800" b="1" spc="200" kern="0" dirty="0">
                <a:solidFill>
                  <a:srgbClr val="6DC0C8"/>
                </a:solidFill>
                <a:latin typeface="Arial" pitchFamily="34" charset="0"/>
                <a:ea typeface="Arial" pitchFamily="34" charset="-122"/>
                <a:cs typeface="Arial" pitchFamily="34" charset="-120"/>
              </a:rPr>
              <a:t>ENTRY</a:t>
            </a:r>
            <a:endParaRPr lang="en-US" sz="800" dirty="0"/>
          </a:p>
        </p:txBody>
      </p:sp>
      <p:sp>
        <p:nvSpPr>
          <p:cNvPr id="21" name="Shape 19"/>
          <p:cNvSpPr/>
          <p:nvPr/>
        </p:nvSpPr>
        <p:spPr>
          <a:xfrm>
            <a:off x="914400" y="3465576"/>
            <a:ext cx="10332720" cy="9144"/>
          </a:xfrm>
          <a:prstGeom prst="rect">
            <a:avLst/>
          </a:prstGeom>
          <a:solidFill>
            <a:srgbClr val="0D3B2E">
              <a:alpha val="10000"/>
            </a:srgbClr>
          </a:solidFill>
          <a:ln w="12700">
            <a:solidFill>
              <a:srgbClr val="333333"/>
            </a:solidFill>
            <a:prstDash val="solid"/>
          </a:ln>
        </p:spPr>
      </p:sp>
      <p:sp>
        <p:nvSpPr>
          <p:cNvPr id="22" name="Text 20"/>
          <p:cNvSpPr/>
          <p:nvPr/>
        </p:nvSpPr>
        <p:spPr>
          <a:xfrm>
            <a:off x="914400" y="3575304"/>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02</a:t>
            </a:r>
            <a:endParaRPr lang="en-US" sz="1400" dirty="0"/>
          </a:p>
        </p:txBody>
      </p:sp>
      <p:sp>
        <p:nvSpPr>
          <p:cNvPr id="23" name="Text 21"/>
          <p:cNvSpPr/>
          <p:nvPr/>
        </p:nvSpPr>
        <p:spPr>
          <a:xfrm>
            <a:off x="1554480" y="3575304"/>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Advisory Trajectory</a:t>
            </a:r>
            <a:endParaRPr lang="en-US" sz="1200" dirty="0"/>
          </a:p>
        </p:txBody>
      </p:sp>
      <p:sp>
        <p:nvSpPr>
          <p:cNvPr id="24" name="Text 22"/>
          <p:cNvSpPr/>
          <p:nvPr/>
        </p:nvSpPr>
        <p:spPr>
          <a:xfrm>
            <a:off x="4663440" y="3557016"/>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Bespoke engagement across employee &amp; org, data, marcom, ecosystems, propositions. Menu-based modules. Core revenue of Y1–2.</a:t>
            </a:r>
            <a:endParaRPr lang="en-US" sz="950" dirty="0"/>
          </a:p>
        </p:txBody>
      </p:sp>
      <p:sp>
        <p:nvSpPr>
          <p:cNvPr id="25" name="Text 23"/>
          <p:cNvSpPr/>
          <p:nvPr/>
        </p:nvSpPr>
        <p:spPr>
          <a:xfrm>
            <a:off x="10241280" y="3648456"/>
            <a:ext cx="1097280" cy="274320"/>
          </a:xfrm>
          <a:prstGeom prst="rect">
            <a:avLst/>
          </a:prstGeom>
          <a:noFill/>
          <a:ln/>
        </p:spPr>
        <p:txBody>
          <a:bodyPr wrap="square" rtlCol="0" anchor="ctr"/>
          <a:lstStyle/>
          <a:p>
            <a:pPr algn="r" indent="0" marL="0">
              <a:buNone/>
            </a:pPr>
            <a:r>
              <a:rPr lang="en-US" sz="800" b="1" spc="200" kern="0" dirty="0">
                <a:solidFill>
                  <a:srgbClr val="F5B896"/>
                </a:solidFill>
                <a:latin typeface="Arial" pitchFamily="34" charset="0"/>
                <a:ea typeface="Arial" pitchFamily="34" charset="-122"/>
                <a:cs typeface="Arial" pitchFamily="34" charset="-120"/>
              </a:rPr>
              <a:t>CORE</a:t>
            </a:r>
            <a:endParaRPr lang="en-US" sz="800" dirty="0"/>
          </a:p>
        </p:txBody>
      </p:sp>
      <p:sp>
        <p:nvSpPr>
          <p:cNvPr id="26" name="Shape 24"/>
          <p:cNvSpPr/>
          <p:nvPr/>
        </p:nvSpPr>
        <p:spPr>
          <a:xfrm>
            <a:off x="914400" y="4114800"/>
            <a:ext cx="10332720" cy="9144"/>
          </a:xfrm>
          <a:prstGeom prst="rect">
            <a:avLst/>
          </a:prstGeom>
          <a:solidFill>
            <a:srgbClr val="0D3B2E">
              <a:alpha val="10000"/>
            </a:srgbClr>
          </a:solidFill>
          <a:ln w="12700">
            <a:solidFill>
              <a:srgbClr val="333333"/>
            </a:solidFill>
            <a:prstDash val="solid"/>
          </a:ln>
        </p:spPr>
      </p:sp>
      <p:sp>
        <p:nvSpPr>
          <p:cNvPr id="27" name="Text 25"/>
          <p:cNvSpPr/>
          <p:nvPr/>
        </p:nvSpPr>
        <p:spPr>
          <a:xfrm>
            <a:off x="914400" y="4224528"/>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03</a:t>
            </a:r>
            <a:endParaRPr lang="en-US" sz="1400" dirty="0"/>
          </a:p>
        </p:txBody>
      </p:sp>
      <p:sp>
        <p:nvSpPr>
          <p:cNvPr id="28" name="Text 26"/>
          <p:cNvSpPr/>
          <p:nvPr/>
        </p:nvSpPr>
        <p:spPr>
          <a:xfrm>
            <a:off x="1554480" y="4224528"/>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Academy &amp; Certification</a:t>
            </a:r>
            <a:endParaRPr lang="en-US" sz="1200" dirty="0"/>
          </a:p>
        </p:txBody>
      </p:sp>
      <p:sp>
        <p:nvSpPr>
          <p:cNvPr id="29" name="Text 27"/>
          <p:cNvSpPr/>
          <p:nvPr/>
        </p:nvSpPr>
        <p:spPr>
          <a:xfrm>
            <a:off x="4663440" y="4206240"/>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Train and certify practitioners (Associate → Advisor → Fellow). Organisations earn Certified Gender Lab status.</a:t>
            </a:r>
            <a:endParaRPr lang="en-US" sz="950" dirty="0"/>
          </a:p>
        </p:txBody>
      </p:sp>
      <p:sp>
        <p:nvSpPr>
          <p:cNvPr id="30" name="Text 28"/>
          <p:cNvSpPr/>
          <p:nvPr/>
        </p:nvSpPr>
        <p:spPr>
          <a:xfrm>
            <a:off x="10241280" y="4297680"/>
            <a:ext cx="1097280" cy="274320"/>
          </a:xfrm>
          <a:prstGeom prst="rect">
            <a:avLst/>
          </a:prstGeom>
          <a:noFill/>
          <a:ln/>
        </p:spPr>
        <p:txBody>
          <a:bodyPr wrap="square" rtlCol="0" anchor="ctr"/>
          <a:lstStyle/>
          <a:p>
            <a:pPr algn="r" indent="0" marL="0">
              <a:buNone/>
            </a:pPr>
            <a:r>
              <a:rPr lang="en-US" sz="800" b="1" spc="200" kern="0" dirty="0">
                <a:solidFill>
                  <a:srgbClr val="F2D080"/>
                </a:solidFill>
                <a:latin typeface="Arial" pitchFamily="34" charset="0"/>
                <a:ea typeface="Arial" pitchFamily="34" charset="-122"/>
                <a:cs typeface="Arial" pitchFamily="34" charset="-120"/>
              </a:rPr>
              <a:t>CAPABILITY</a:t>
            </a:r>
            <a:endParaRPr lang="en-US" sz="800" dirty="0"/>
          </a:p>
        </p:txBody>
      </p:sp>
      <p:sp>
        <p:nvSpPr>
          <p:cNvPr id="31" name="Shape 29"/>
          <p:cNvSpPr/>
          <p:nvPr/>
        </p:nvSpPr>
        <p:spPr>
          <a:xfrm>
            <a:off x="914400" y="4764024"/>
            <a:ext cx="10332720" cy="9144"/>
          </a:xfrm>
          <a:prstGeom prst="rect">
            <a:avLst/>
          </a:prstGeom>
          <a:solidFill>
            <a:srgbClr val="0D3B2E">
              <a:alpha val="10000"/>
            </a:srgbClr>
          </a:solidFill>
          <a:ln w="12700">
            <a:solidFill>
              <a:srgbClr val="333333"/>
            </a:solidFill>
            <a:prstDash val="solid"/>
          </a:ln>
        </p:spPr>
      </p:sp>
      <p:sp>
        <p:nvSpPr>
          <p:cNvPr id="32" name="Text 30"/>
          <p:cNvSpPr/>
          <p:nvPr/>
        </p:nvSpPr>
        <p:spPr>
          <a:xfrm>
            <a:off x="914400" y="4873752"/>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04</a:t>
            </a:r>
            <a:endParaRPr lang="en-US" sz="1400" dirty="0"/>
          </a:p>
        </p:txBody>
      </p:sp>
      <p:sp>
        <p:nvSpPr>
          <p:cNvPr id="33" name="Text 31"/>
          <p:cNvSpPr/>
          <p:nvPr/>
        </p:nvSpPr>
        <p:spPr>
          <a:xfrm>
            <a:off x="1554480" y="4873752"/>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Membership Community</a:t>
            </a:r>
            <a:endParaRPr lang="en-US" sz="1200" dirty="0"/>
          </a:p>
        </p:txBody>
      </p:sp>
      <p:sp>
        <p:nvSpPr>
          <p:cNvPr id="34" name="Text 32"/>
          <p:cNvSpPr/>
          <p:nvPr/>
        </p:nvSpPr>
        <p:spPr>
          <a:xfrm>
            <a:off x="4663440" y="4855464"/>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Recurring subscription. Peer learning, tools, benchmarks for certified organisations. Scales without headcount.</a:t>
            </a:r>
            <a:endParaRPr lang="en-US" sz="950" dirty="0"/>
          </a:p>
        </p:txBody>
      </p:sp>
      <p:sp>
        <p:nvSpPr>
          <p:cNvPr id="35" name="Text 33"/>
          <p:cNvSpPr/>
          <p:nvPr/>
        </p:nvSpPr>
        <p:spPr>
          <a:xfrm>
            <a:off x="10241280" y="4946904"/>
            <a:ext cx="1097280" cy="274320"/>
          </a:xfrm>
          <a:prstGeom prst="rect">
            <a:avLst/>
          </a:prstGeom>
          <a:noFill/>
          <a:ln/>
        </p:spPr>
        <p:txBody>
          <a:bodyPr wrap="square" rtlCol="0" anchor="ctr"/>
          <a:lstStyle/>
          <a:p>
            <a:pPr algn="r" indent="0" marL="0">
              <a:buNone/>
            </a:pPr>
            <a:r>
              <a:rPr lang="en-US" sz="800" b="1" spc="200" kern="0" dirty="0">
                <a:solidFill>
                  <a:srgbClr val="9FD4B0"/>
                </a:solidFill>
                <a:latin typeface="Arial" pitchFamily="34" charset="0"/>
                <a:ea typeface="Arial" pitchFamily="34" charset="-122"/>
                <a:cs typeface="Arial" pitchFamily="34" charset="-120"/>
              </a:rPr>
              <a:t>RECURRING</a:t>
            </a:r>
            <a:endParaRPr lang="en-US" sz="800" dirty="0"/>
          </a:p>
        </p:txBody>
      </p:sp>
      <p:sp>
        <p:nvSpPr>
          <p:cNvPr id="36" name="Shape 34"/>
          <p:cNvSpPr/>
          <p:nvPr/>
        </p:nvSpPr>
        <p:spPr>
          <a:xfrm>
            <a:off x="914400" y="5413248"/>
            <a:ext cx="10332720" cy="9144"/>
          </a:xfrm>
          <a:prstGeom prst="rect">
            <a:avLst/>
          </a:prstGeom>
          <a:solidFill>
            <a:srgbClr val="0D3B2E">
              <a:alpha val="10000"/>
            </a:srgbClr>
          </a:solidFill>
          <a:ln w="12700">
            <a:solidFill>
              <a:srgbClr val="333333"/>
            </a:solidFill>
            <a:prstDash val="solid"/>
          </a:ln>
        </p:spPr>
      </p:sp>
      <p:sp>
        <p:nvSpPr>
          <p:cNvPr id="37" name="Text 35"/>
          <p:cNvSpPr/>
          <p:nvPr/>
        </p:nvSpPr>
        <p:spPr>
          <a:xfrm>
            <a:off x="914400" y="5522976"/>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05</a:t>
            </a:r>
            <a:endParaRPr lang="en-US" sz="1400" dirty="0"/>
          </a:p>
        </p:txBody>
      </p:sp>
      <p:sp>
        <p:nvSpPr>
          <p:cNvPr id="38" name="Text 36"/>
          <p:cNvSpPr/>
          <p:nvPr/>
        </p:nvSpPr>
        <p:spPr>
          <a:xfrm>
            <a:off x="1554480" y="5522976"/>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Platform (Year 2–3)</a:t>
            </a:r>
            <a:endParaRPr lang="en-US" sz="1200" dirty="0"/>
          </a:p>
        </p:txBody>
      </p:sp>
      <p:sp>
        <p:nvSpPr>
          <p:cNvPr id="39" name="Text 37"/>
          <p:cNvSpPr/>
          <p:nvPr/>
        </p:nvSpPr>
        <p:spPr>
          <a:xfrm>
            <a:off x="4663440" y="5504688"/>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Digital layer: allyship tracks, AI-assisted advisory, continuous scan capability. Low-touch, high-margin. Basis for funder panel.</a:t>
            </a:r>
            <a:endParaRPr lang="en-US" sz="950" dirty="0"/>
          </a:p>
        </p:txBody>
      </p:sp>
      <p:sp>
        <p:nvSpPr>
          <p:cNvPr id="40" name="Text 38"/>
          <p:cNvSpPr/>
          <p:nvPr/>
        </p:nvSpPr>
        <p:spPr>
          <a:xfrm>
            <a:off x="10241280" y="5596128"/>
            <a:ext cx="1097280" cy="274320"/>
          </a:xfrm>
          <a:prstGeom prst="rect">
            <a:avLst/>
          </a:prstGeom>
          <a:noFill/>
          <a:ln/>
        </p:spPr>
        <p:txBody>
          <a:bodyPr wrap="square" rtlCol="0" anchor="ctr"/>
          <a:lstStyle/>
          <a:p>
            <a:pPr algn="r" indent="0" marL="0">
              <a:buNone/>
            </a:pPr>
            <a:r>
              <a:rPr lang="en-US" sz="800" b="1" spc="200" kern="0" dirty="0">
                <a:solidFill>
                  <a:srgbClr val="6DC0C8"/>
                </a:solidFill>
                <a:latin typeface="Arial" pitchFamily="34" charset="0"/>
                <a:ea typeface="Arial" pitchFamily="34" charset="-122"/>
                <a:cs typeface="Arial" pitchFamily="34" charset="-120"/>
              </a:rPr>
              <a:t>SCALE</a:t>
            </a:r>
            <a:endParaRPr lang="en-US" sz="800" dirty="0"/>
          </a:p>
        </p:txBody>
      </p:sp>
      <p:sp>
        <p:nvSpPr>
          <p:cNvPr id="41" name="Text 39"/>
          <p:cNvSpPr/>
          <p:nvPr/>
        </p:nvSpPr>
        <p:spPr>
          <a:xfrm>
            <a:off x="731520" y="6217920"/>
            <a:ext cx="10058400" cy="365760"/>
          </a:xfrm>
          <a:prstGeom prst="rect">
            <a:avLst/>
          </a:prstGeom>
          <a:noFill/>
          <a:ln/>
        </p:spPr>
        <p:txBody>
          <a:bodyPr wrap="square" rtlCol="0" anchor="ctr"/>
          <a:lstStyle/>
          <a:p>
            <a:pPr indent="0" marL="0">
              <a:buNone/>
            </a:pPr>
            <a:r>
              <a:rPr lang="en-US" sz="950" i="1" dirty="0">
                <a:solidFill>
                  <a:srgbClr val="0D3B2E">
                    <a:alpha val="60000"/>
                  </a:srgbClr>
                </a:solidFill>
                <a:latin typeface="Arial" pitchFamily="34" charset="0"/>
                <a:ea typeface="Arial" pitchFamily="34" charset="-122"/>
                <a:cs typeface="Arial" pitchFamily="34" charset="-120"/>
              </a:rPr>
              <a:t>Year 3 innovation track: a funder panel co-invests in solutions and receives a dividend on commercial success. Community → platform → moat.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08 · Go-to-Market</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08 · GO-TO-MARKET</a:t>
            </a:r>
            <a:endParaRPr lang="en-US" sz="800" dirty="0"/>
          </a:p>
        </p:txBody>
      </p:sp>
      <p:sp>
        <p:nvSpPr>
          <p:cNvPr id="13" name="Text 11"/>
          <p:cNvSpPr/>
          <p:nvPr/>
        </p:nvSpPr>
        <p:spPr>
          <a:xfrm>
            <a:off x="731520" y="1188720"/>
            <a:ext cx="10515600" cy="731520"/>
          </a:xfrm>
          <a:prstGeom prst="rect">
            <a:avLst/>
          </a:prstGeom>
          <a:noFill/>
          <a:ln/>
        </p:spPr>
        <p:txBody>
          <a:bodyPr wrap="square" rtlCol="0" anchor="ctr"/>
          <a:lstStyle/>
          <a:p>
            <a:pPr indent="0" marL="0">
              <a:lnSpc>
                <a:spcPts val="2600"/>
              </a:lnSpc>
              <a:buNone/>
            </a:pPr>
            <a:r>
              <a:rPr lang="en-US" sz="2000" b="1" dirty="0">
                <a:solidFill>
                  <a:srgbClr val="0D3B2E"/>
                </a:solidFill>
                <a:latin typeface="Arial" pitchFamily="34" charset="0"/>
                <a:ea typeface="Arial" pitchFamily="34" charset="-122"/>
                <a:cs typeface="Arial" pitchFamily="34" charset="-120"/>
              </a:rPr>
              <a:t>First 10 corporate clients beyond the World Bank. 90-day window. Four channels in parallel.</a:t>
            </a:r>
            <a:endParaRPr lang="en-US" sz="2000" dirty="0"/>
          </a:p>
        </p:txBody>
      </p:sp>
      <p:sp>
        <p:nvSpPr>
          <p:cNvPr id="14" name="Text 12"/>
          <p:cNvSpPr/>
          <p:nvPr/>
        </p:nvSpPr>
        <p:spPr>
          <a:xfrm>
            <a:off x="731520" y="1965960"/>
            <a:ext cx="105156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The blind-spot argument opens the CFO conversation, not just the CSR conversation. Every channel is engineered to reach that buyer — fast.</a:t>
            </a:r>
            <a:endParaRPr lang="en-US" sz="1100" dirty="0"/>
          </a:p>
        </p:txBody>
      </p:sp>
      <p:sp>
        <p:nvSpPr>
          <p:cNvPr id="15" name="Shape 13"/>
          <p:cNvSpPr/>
          <p:nvPr/>
        </p:nvSpPr>
        <p:spPr>
          <a:xfrm>
            <a:off x="731520" y="2743200"/>
            <a:ext cx="54864" cy="1691640"/>
          </a:xfrm>
          <a:prstGeom prst="rect">
            <a:avLst>
              <a:gd name="adj" fmla="val 50000"/>
            </a:avLst>
          </a:prstGeom>
          <a:solidFill>
            <a:srgbClr val="6DC0C8"/>
          </a:solidFill>
          <a:ln w="12700">
            <a:solidFill>
              <a:srgbClr val="333333"/>
            </a:solidFill>
            <a:prstDash val="solid"/>
          </a:ln>
        </p:spPr>
      </p:sp>
      <p:sp>
        <p:nvSpPr>
          <p:cNvPr id="16" name="Shape 14"/>
          <p:cNvSpPr/>
          <p:nvPr/>
        </p:nvSpPr>
        <p:spPr>
          <a:xfrm>
            <a:off x="841248" y="274320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7" name="Shape 15"/>
          <p:cNvSpPr/>
          <p:nvPr/>
        </p:nvSpPr>
        <p:spPr>
          <a:xfrm>
            <a:off x="978408" y="2779776"/>
            <a:ext cx="5074920" cy="22860"/>
          </a:xfrm>
          <a:prstGeom prst="rect">
            <a:avLst/>
          </a:prstGeom>
          <a:solidFill>
            <a:srgbClr val="FFFFFF">
              <a:alpha val="90000"/>
            </a:srgbClr>
          </a:solidFill>
          <a:ln w="12700">
            <a:solidFill>
              <a:srgbClr val="333333"/>
            </a:solidFill>
            <a:prstDash val="solid"/>
          </a:ln>
        </p:spPr>
      </p:sp>
      <p:sp>
        <p:nvSpPr>
          <p:cNvPr id="18" name="Text 16"/>
          <p:cNvSpPr/>
          <p:nvPr/>
        </p:nvSpPr>
        <p:spPr>
          <a:xfrm>
            <a:off x="1097280" y="288036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01 · Chantal's Network — Direct Executive Access</a:t>
            </a:r>
            <a:endParaRPr lang="en-US" sz="1200" dirty="0"/>
          </a:p>
        </p:txBody>
      </p:sp>
      <p:sp>
        <p:nvSpPr>
          <p:cNvPr id="19" name="Text 17"/>
          <p:cNvSpPr/>
          <p:nvPr/>
        </p:nvSpPr>
        <p:spPr>
          <a:xfrm>
            <a:off x="1097280" y="327355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Relationships at C-suite, ministerial and royal level. Fastest path to a first conversation. Personal outreach — not brochures.</a:t>
            </a:r>
            <a:endParaRPr lang="en-US" sz="950" dirty="0"/>
          </a:p>
        </p:txBody>
      </p:sp>
      <p:sp>
        <p:nvSpPr>
          <p:cNvPr id="20" name="Text 18"/>
          <p:cNvSpPr/>
          <p:nvPr/>
        </p:nvSpPr>
        <p:spPr>
          <a:xfrm>
            <a:off x="1097280" y="4114800"/>
            <a:ext cx="4937760" cy="274320"/>
          </a:xfrm>
          <a:prstGeom prst="rect">
            <a:avLst/>
          </a:prstGeom>
          <a:noFill/>
          <a:ln/>
        </p:spPr>
        <p:txBody>
          <a:bodyPr wrap="square" rtlCol="0" anchor="ctr"/>
          <a:lstStyle/>
          <a:p>
            <a:pPr indent="0" marL="0">
              <a:buNone/>
            </a:pPr>
            <a:r>
              <a:rPr lang="en-US" sz="800" b="1" spc="200" kern="0" dirty="0">
                <a:solidFill>
                  <a:srgbClr val="6DC0C8"/>
                </a:solidFill>
                <a:latin typeface="Arial" pitchFamily="34" charset="0"/>
                <a:ea typeface="Arial" pitchFamily="34" charset="-122"/>
                <a:cs typeface="Arial" pitchFamily="34" charset="-120"/>
              </a:rPr>
              <a:t>TARGET: 5 MEETINGS IN 30 DAYS</a:t>
            </a:r>
            <a:endParaRPr lang="en-US" sz="800" dirty="0"/>
          </a:p>
        </p:txBody>
      </p:sp>
      <p:sp>
        <p:nvSpPr>
          <p:cNvPr id="21" name="Shape 19"/>
          <p:cNvSpPr/>
          <p:nvPr/>
        </p:nvSpPr>
        <p:spPr>
          <a:xfrm>
            <a:off x="6309360" y="2743200"/>
            <a:ext cx="54864" cy="1691640"/>
          </a:xfrm>
          <a:prstGeom prst="rect">
            <a:avLst>
              <a:gd name="adj" fmla="val 50000"/>
            </a:avLst>
          </a:prstGeom>
          <a:solidFill>
            <a:srgbClr val="F5B896"/>
          </a:solidFill>
          <a:ln w="12700">
            <a:solidFill>
              <a:srgbClr val="333333"/>
            </a:solidFill>
            <a:prstDash val="solid"/>
          </a:ln>
        </p:spPr>
      </p:sp>
      <p:sp>
        <p:nvSpPr>
          <p:cNvPr id="22" name="Shape 20"/>
          <p:cNvSpPr/>
          <p:nvPr/>
        </p:nvSpPr>
        <p:spPr>
          <a:xfrm>
            <a:off x="6419088" y="274320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3" name="Shape 21"/>
          <p:cNvSpPr/>
          <p:nvPr/>
        </p:nvSpPr>
        <p:spPr>
          <a:xfrm>
            <a:off x="6556248" y="2779776"/>
            <a:ext cx="5074920" cy="22860"/>
          </a:xfrm>
          <a:prstGeom prst="rect">
            <a:avLst/>
          </a:prstGeom>
          <a:solidFill>
            <a:srgbClr val="FFFFFF">
              <a:alpha val="90000"/>
            </a:srgbClr>
          </a:solidFill>
          <a:ln w="12700">
            <a:solidFill>
              <a:srgbClr val="333333"/>
            </a:solidFill>
            <a:prstDash val="solid"/>
          </a:ln>
        </p:spPr>
      </p:sp>
      <p:sp>
        <p:nvSpPr>
          <p:cNvPr id="24" name="Text 22"/>
          <p:cNvSpPr/>
          <p:nvPr/>
        </p:nvSpPr>
        <p:spPr>
          <a:xfrm>
            <a:off x="6675120" y="288036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02 · World Bank as Credibility Signal</a:t>
            </a:r>
            <a:endParaRPr lang="en-US" sz="1200" dirty="0"/>
          </a:p>
        </p:txBody>
      </p:sp>
      <p:sp>
        <p:nvSpPr>
          <p:cNvPr id="25" name="Text 23"/>
          <p:cNvSpPr/>
          <p:nvPr/>
        </p:nvSpPr>
        <p:spPr>
          <a:xfrm>
            <a:off x="6675120" y="327355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Not just a contract — a reference that transforms the sales conversation. Request warm introductions to corporate partners and FIs in priority markets.</a:t>
            </a:r>
            <a:endParaRPr lang="en-US" sz="950" dirty="0"/>
          </a:p>
        </p:txBody>
      </p:sp>
      <p:sp>
        <p:nvSpPr>
          <p:cNvPr id="26" name="Text 24"/>
          <p:cNvSpPr/>
          <p:nvPr/>
        </p:nvSpPr>
        <p:spPr>
          <a:xfrm>
            <a:off x="6675120" y="4114800"/>
            <a:ext cx="4937760" cy="274320"/>
          </a:xfrm>
          <a:prstGeom prst="rect">
            <a:avLst/>
          </a:prstGeom>
          <a:noFill/>
          <a:ln/>
        </p:spPr>
        <p:txBody>
          <a:bodyPr wrap="square" rtlCol="0" anchor="ctr"/>
          <a:lstStyle/>
          <a:p>
            <a:pPr indent="0" marL="0">
              <a:buNone/>
            </a:pPr>
            <a:r>
              <a:rPr lang="en-US" sz="800" b="1" spc="200" kern="0" dirty="0">
                <a:solidFill>
                  <a:srgbClr val="F5B896"/>
                </a:solidFill>
                <a:latin typeface="Arial" pitchFamily="34" charset="0"/>
                <a:ea typeface="Arial" pitchFamily="34" charset="-122"/>
                <a:cs typeface="Arial" pitchFamily="34" charset="-120"/>
              </a:rPr>
              <a:t>TARGET: 3 WARM INTROS PER PRIORITY MARKET</a:t>
            </a:r>
            <a:endParaRPr lang="en-US" sz="800" dirty="0"/>
          </a:p>
        </p:txBody>
      </p:sp>
      <p:sp>
        <p:nvSpPr>
          <p:cNvPr id="27" name="Shape 25"/>
          <p:cNvSpPr/>
          <p:nvPr/>
        </p:nvSpPr>
        <p:spPr>
          <a:xfrm>
            <a:off x="731520" y="4663440"/>
            <a:ext cx="54864" cy="1691640"/>
          </a:xfrm>
          <a:prstGeom prst="rect">
            <a:avLst>
              <a:gd name="adj" fmla="val 50000"/>
            </a:avLst>
          </a:prstGeom>
          <a:solidFill>
            <a:srgbClr val="F2D080"/>
          </a:solidFill>
          <a:ln w="12700">
            <a:solidFill>
              <a:srgbClr val="333333"/>
            </a:solidFill>
            <a:prstDash val="solid"/>
          </a:ln>
        </p:spPr>
      </p:sp>
      <p:sp>
        <p:nvSpPr>
          <p:cNvPr id="28" name="Shape 26"/>
          <p:cNvSpPr/>
          <p:nvPr/>
        </p:nvSpPr>
        <p:spPr>
          <a:xfrm>
            <a:off x="841248" y="466344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9" name="Shape 27"/>
          <p:cNvSpPr/>
          <p:nvPr/>
        </p:nvSpPr>
        <p:spPr>
          <a:xfrm>
            <a:off x="978408" y="4700016"/>
            <a:ext cx="5074920" cy="22860"/>
          </a:xfrm>
          <a:prstGeom prst="rect">
            <a:avLst/>
          </a:prstGeom>
          <a:solidFill>
            <a:srgbClr val="FFFFFF">
              <a:alpha val="90000"/>
            </a:srgbClr>
          </a:solidFill>
          <a:ln w="12700">
            <a:solidFill>
              <a:srgbClr val="333333"/>
            </a:solidFill>
            <a:prstDash val="solid"/>
          </a:ln>
        </p:spPr>
      </p:sp>
      <p:sp>
        <p:nvSpPr>
          <p:cNvPr id="30" name="Text 28"/>
          <p:cNvSpPr/>
          <p:nvPr/>
        </p:nvSpPr>
        <p:spPr>
          <a:xfrm>
            <a:off x="1097280" y="480060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03 · Keynotes + Thought Leadership</a:t>
            </a:r>
            <a:endParaRPr lang="en-US" sz="1200" dirty="0"/>
          </a:p>
        </p:txBody>
      </p:sp>
      <p:sp>
        <p:nvSpPr>
          <p:cNvPr id="31" name="Text 29"/>
          <p:cNvSpPr/>
          <p:nvPr/>
        </p:nvSpPr>
        <p:spPr>
          <a:xfrm>
            <a:off x="1097280" y="519379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Britt's speaker capability + Chantal's authority + sharp positioning = speaker slots at banking summits and wealth forums.</a:t>
            </a:r>
            <a:endParaRPr lang="en-US" sz="950" dirty="0"/>
          </a:p>
        </p:txBody>
      </p:sp>
      <p:sp>
        <p:nvSpPr>
          <p:cNvPr id="32" name="Text 30"/>
          <p:cNvSpPr/>
          <p:nvPr/>
        </p:nvSpPr>
        <p:spPr>
          <a:xfrm>
            <a:off x="1097280" y="6035040"/>
            <a:ext cx="4937760" cy="274320"/>
          </a:xfrm>
          <a:prstGeom prst="rect">
            <a:avLst/>
          </a:prstGeom>
          <a:noFill/>
          <a:ln/>
        </p:spPr>
        <p:txBody>
          <a:bodyPr wrap="square" rtlCol="0" anchor="ctr"/>
          <a:lstStyle/>
          <a:p>
            <a:pPr indent="0" marL="0">
              <a:buNone/>
            </a:pPr>
            <a:r>
              <a:rPr lang="en-US" sz="800" b="1" spc="200" kern="0" dirty="0">
                <a:solidFill>
                  <a:srgbClr val="F2D080"/>
                </a:solidFill>
                <a:latin typeface="Arial" pitchFamily="34" charset="0"/>
                <a:ea typeface="Arial" pitchFamily="34" charset="-122"/>
                <a:cs typeface="Arial" pitchFamily="34" charset="-120"/>
              </a:rPr>
              <a:t>TARGET: 3 KEYNOTES IN 60 DAYS · 3+ LEADS EACH</a:t>
            </a:r>
            <a:endParaRPr lang="en-US" sz="800" dirty="0"/>
          </a:p>
        </p:txBody>
      </p:sp>
      <p:sp>
        <p:nvSpPr>
          <p:cNvPr id="33" name="Shape 31"/>
          <p:cNvSpPr/>
          <p:nvPr/>
        </p:nvSpPr>
        <p:spPr>
          <a:xfrm>
            <a:off x="6309360" y="4663440"/>
            <a:ext cx="54864" cy="1691640"/>
          </a:xfrm>
          <a:prstGeom prst="rect">
            <a:avLst>
              <a:gd name="adj" fmla="val 50000"/>
            </a:avLst>
          </a:prstGeom>
          <a:solidFill>
            <a:srgbClr val="9FD4B0"/>
          </a:solidFill>
          <a:ln w="12700">
            <a:solidFill>
              <a:srgbClr val="333333"/>
            </a:solidFill>
            <a:prstDash val="solid"/>
          </a:ln>
        </p:spPr>
      </p:sp>
      <p:sp>
        <p:nvSpPr>
          <p:cNvPr id="34" name="Shape 32"/>
          <p:cNvSpPr/>
          <p:nvPr/>
        </p:nvSpPr>
        <p:spPr>
          <a:xfrm>
            <a:off x="6419088" y="466344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5" name="Shape 33"/>
          <p:cNvSpPr/>
          <p:nvPr/>
        </p:nvSpPr>
        <p:spPr>
          <a:xfrm>
            <a:off x="6556248" y="4700016"/>
            <a:ext cx="5074920" cy="22860"/>
          </a:xfrm>
          <a:prstGeom prst="rect">
            <a:avLst/>
          </a:prstGeom>
          <a:solidFill>
            <a:srgbClr val="FFFFFF">
              <a:alpha val="90000"/>
            </a:srgbClr>
          </a:solidFill>
          <a:ln w="12700">
            <a:solidFill>
              <a:srgbClr val="333333"/>
            </a:solidFill>
            <a:prstDash val="solid"/>
          </a:ln>
        </p:spPr>
      </p:sp>
      <p:sp>
        <p:nvSpPr>
          <p:cNvPr id="36" name="Text 34"/>
          <p:cNvSpPr/>
          <p:nvPr/>
        </p:nvSpPr>
        <p:spPr>
          <a:xfrm>
            <a:off x="6675120" y="480060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04 · Flagship Report — "The Trillion-Euro Blind Spot"</a:t>
            </a:r>
            <a:endParaRPr lang="en-US" sz="1200" dirty="0"/>
          </a:p>
        </p:txBody>
      </p:sp>
      <p:sp>
        <p:nvSpPr>
          <p:cNvPr id="37" name="Text 35"/>
          <p:cNvSpPr/>
          <p:nvPr/>
        </p:nvSpPr>
        <p:spPr>
          <a:xfrm>
            <a:off x="6675120" y="519379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Publish the business case. Quantify the cost of ignoring women and diverse clients in FS. Distribute to 50 CEOs. Establish definitive-voice status.</a:t>
            </a:r>
            <a:endParaRPr lang="en-US" sz="950" dirty="0"/>
          </a:p>
        </p:txBody>
      </p:sp>
      <p:sp>
        <p:nvSpPr>
          <p:cNvPr id="38" name="Text 36"/>
          <p:cNvSpPr/>
          <p:nvPr/>
        </p:nvSpPr>
        <p:spPr>
          <a:xfrm>
            <a:off x="6675120" y="6035040"/>
            <a:ext cx="4937760" cy="274320"/>
          </a:xfrm>
          <a:prstGeom prst="rect">
            <a:avLst/>
          </a:prstGeom>
          <a:noFill/>
          <a:ln/>
        </p:spPr>
        <p:txBody>
          <a:bodyPr wrap="square" rtlCol="0" anchor="ctr"/>
          <a:lstStyle/>
          <a:p>
            <a:pPr indent="0" marL="0">
              <a:buNone/>
            </a:pPr>
            <a:r>
              <a:rPr lang="en-US" sz="800" b="1" spc="200" kern="0" dirty="0">
                <a:solidFill>
                  <a:srgbClr val="9FD4B0"/>
                </a:solidFill>
                <a:latin typeface="Arial" pitchFamily="34" charset="0"/>
                <a:ea typeface="Arial" pitchFamily="34" charset="-122"/>
                <a:cs typeface="Arial" pitchFamily="34" charset="-120"/>
              </a:rPr>
              <a:t>TARGET: PUBLISHED + DISTRIBUTED IN 60 DAYS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09 · The 90-Day Sprint</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09 · THE 90-DAY SPRINT</a:t>
            </a:r>
            <a:endParaRPr lang="en-US" sz="800" dirty="0"/>
          </a:p>
        </p:txBody>
      </p:sp>
      <p:sp>
        <p:nvSpPr>
          <p:cNvPr id="13" name="Text 11"/>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April · May · June — the end of the preparation phase.</a:t>
            </a:r>
            <a:endParaRPr lang="en-US" sz="2200" dirty="0"/>
          </a:p>
        </p:txBody>
      </p:sp>
      <p:sp>
        <p:nvSpPr>
          <p:cNvPr id="14" name="Text 12"/>
          <p:cNvSpPr/>
          <p:nvPr/>
        </p:nvSpPr>
        <p:spPr>
          <a:xfrm>
            <a:off x="731520" y="1874520"/>
            <a:ext cx="105156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Every milestone has a named owner. No "we". World Bank visibility is explicit at each stage. This is the proof the firm is building, not preparing.</a:t>
            </a:r>
            <a:endParaRPr lang="en-US" sz="1100" dirty="0"/>
          </a:p>
        </p:txBody>
      </p:sp>
      <p:sp>
        <p:nvSpPr>
          <p:cNvPr id="15" name="Shape 13"/>
          <p:cNvSpPr/>
          <p:nvPr/>
        </p:nvSpPr>
        <p:spPr>
          <a:xfrm>
            <a:off x="731520" y="2697480"/>
            <a:ext cx="3520440" cy="3657600"/>
          </a:xfrm>
          <a:prstGeom prst="roundRect">
            <a:avLst>
              <a:gd name="adj" fmla="val 519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6" name="Shape 14"/>
          <p:cNvSpPr/>
          <p:nvPr/>
        </p:nvSpPr>
        <p:spPr>
          <a:xfrm>
            <a:off x="868680" y="2734056"/>
            <a:ext cx="3246120" cy="22860"/>
          </a:xfrm>
          <a:prstGeom prst="rect">
            <a:avLst/>
          </a:prstGeom>
          <a:solidFill>
            <a:srgbClr val="FFFFFF">
              <a:alpha val="90000"/>
            </a:srgbClr>
          </a:solidFill>
          <a:ln w="12700">
            <a:solidFill>
              <a:srgbClr val="333333"/>
            </a:solidFill>
            <a:prstDash val="solid"/>
          </a:ln>
        </p:spPr>
      </p:sp>
      <p:sp>
        <p:nvSpPr>
          <p:cNvPr id="17" name="Text 15"/>
          <p:cNvSpPr/>
          <p:nvPr/>
        </p:nvSpPr>
        <p:spPr>
          <a:xfrm>
            <a:off x="1005840" y="2816352"/>
            <a:ext cx="3108960" cy="457200"/>
          </a:xfrm>
          <a:prstGeom prst="rect">
            <a:avLst/>
          </a:prstGeom>
          <a:noFill/>
          <a:ln/>
        </p:spPr>
        <p:txBody>
          <a:bodyPr wrap="square" rtlCol="0" anchor="ctr"/>
          <a:lstStyle/>
          <a:p>
            <a:pPr indent="0" marL="0">
              <a:buNone/>
            </a:pPr>
            <a:r>
              <a:rPr lang="en-US" sz="1600" b="1" dirty="0">
                <a:solidFill>
                  <a:srgbClr val="0D3B2E"/>
                </a:solidFill>
                <a:latin typeface="Arial" pitchFamily="34" charset="0"/>
                <a:ea typeface="Arial" pitchFamily="34" charset="-122"/>
                <a:cs typeface="Arial" pitchFamily="34" charset="-120"/>
              </a:rPr>
              <a:t>April</a:t>
            </a:r>
            <a:endParaRPr lang="en-US" sz="1600" dirty="0"/>
          </a:p>
        </p:txBody>
      </p:sp>
      <p:sp>
        <p:nvSpPr>
          <p:cNvPr id="18" name="Text 16"/>
          <p:cNvSpPr/>
          <p:nvPr/>
        </p:nvSpPr>
        <p:spPr>
          <a:xfrm>
            <a:off x="1005840" y="324612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FOUNDATION &amp; FIRST CLIENTS</a:t>
            </a:r>
            <a:endParaRPr lang="en-US" sz="800" dirty="0"/>
          </a:p>
        </p:txBody>
      </p:sp>
      <p:sp>
        <p:nvSpPr>
          <p:cNvPr id="19" name="Shape 17"/>
          <p:cNvSpPr/>
          <p:nvPr/>
        </p:nvSpPr>
        <p:spPr>
          <a:xfrm>
            <a:off x="1005840" y="3703320"/>
            <a:ext cx="91440" cy="91440"/>
          </a:xfrm>
          <a:prstGeom prst="ellipse">
            <a:avLst/>
          </a:prstGeom>
          <a:solidFill>
            <a:srgbClr val="6DC0C8"/>
          </a:solidFill>
          <a:ln w="12700">
            <a:solidFill>
              <a:srgbClr val="333333"/>
            </a:solidFill>
            <a:prstDash val="solid"/>
          </a:ln>
        </p:spPr>
      </p:sp>
      <p:sp>
        <p:nvSpPr>
          <p:cNvPr id="20" name="Text 18"/>
          <p:cNvSpPr/>
          <p:nvPr/>
        </p:nvSpPr>
        <p:spPr>
          <a:xfrm>
            <a:off x="1170432" y="361188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Due diligence + peer analysis (OYR benchmark)</a:t>
            </a:r>
            <a:endParaRPr lang="en-US" sz="900" dirty="0"/>
          </a:p>
        </p:txBody>
      </p:sp>
      <p:sp>
        <p:nvSpPr>
          <p:cNvPr id="21" name="Shape 19"/>
          <p:cNvSpPr/>
          <p:nvPr/>
        </p:nvSpPr>
        <p:spPr>
          <a:xfrm>
            <a:off x="1005840" y="4087368"/>
            <a:ext cx="91440" cy="91440"/>
          </a:xfrm>
          <a:prstGeom prst="ellipse">
            <a:avLst/>
          </a:prstGeom>
          <a:solidFill>
            <a:srgbClr val="6DC0C8"/>
          </a:solidFill>
          <a:ln w="12700">
            <a:solidFill>
              <a:srgbClr val="333333"/>
            </a:solidFill>
            <a:prstDash val="solid"/>
          </a:ln>
        </p:spPr>
      </p:sp>
      <p:sp>
        <p:nvSpPr>
          <p:cNvPr id="22" name="Text 20"/>
          <p:cNvSpPr/>
          <p:nvPr/>
        </p:nvSpPr>
        <p:spPr>
          <a:xfrm>
            <a:off x="1170432" y="399592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Finalise huisstijl and brand guide</a:t>
            </a:r>
            <a:endParaRPr lang="en-US" sz="900" dirty="0"/>
          </a:p>
        </p:txBody>
      </p:sp>
      <p:sp>
        <p:nvSpPr>
          <p:cNvPr id="23" name="Shape 21"/>
          <p:cNvSpPr/>
          <p:nvPr/>
        </p:nvSpPr>
        <p:spPr>
          <a:xfrm>
            <a:off x="1005840" y="4471416"/>
            <a:ext cx="91440" cy="91440"/>
          </a:xfrm>
          <a:prstGeom prst="ellipse">
            <a:avLst/>
          </a:prstGeom>
          <a:solidFill>
            <a:srgbClr val="6DC0C8"/>
          </a:solidFill>
          <a:ln w="12700">
            <a:solidFill>
              <a:srgbClr val="333333"/>
            </a:solidFill>
            <a:prstDash val="solid"/>
          </a:ln>
        </p:spPr>
      </p:sp>
      <p:sp>
        <p:nvSpPr>
          <p:cNvPr id="24" name="Text 22"/>
          <p:cNvSpPr/>
          <p:nvPr/>
        </p:nvSpPr>
        <p:spPr>
          <a:xfrm>
            <a:off x="1170432" y="4379976"/>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Shared Drive, tools, working agreements</a:t>
            </a:r>
            <a:endParaRPr lang="en-US" sz="900" dirty="0"/>
          </a:p>
        </p:txBody>
      </p:sp>
      <p:sp>
        <p:nvSpPr>
          <p:cNvPr id="25" name="Shape 23"/>
          <p:cNvSpPr/>
          <p:nvPr/>
        </p:nvSpPr>
        <p:spPr>
          <a:xfrm>
            <a:off x="1005840" y="4855464"/>
            <a:ext cx="91440" cy="91440"/>
          </a:xfrm>
          <a:prstGeom prst="ellipse">
            <a:avLst/>
          </a:prstGeom>
          <a:solidFill>
            <a:srgbClr val="6DC0C8"/>
          </a:solidFill>
          <a:ln w="12700">
            <a:solidFill>
              <a:srgbClr val="333333"/>
            </a:solidFill>
            <a:prstDash val="solid"/>
          </a:ln>
        </p:spPr>
      </p:sp>
      <p:sp>
        <p:nvSpPr>
          <p:cNvPr id="26" name="Text 24"/>
          <p:cNvSpPr/>
          <p:nvPr/>
        </p:nvSpPr>
        <p:spPr>
          <a:xfrm>
            <a:off x="1170432" y="4764024"/>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Build &amp; enrich prospect list — FS priority</a:t>
            </a:r>
            <a:endParaRPr lang="en-US" sz="900" dirty="0"/>
          </a:p>
        </p:txBody>
      </p:sp>
      <p:sp>
        <p:nvSpPr>
          <p:cNvPr id="27" name="Shape 25"/>
          <p:cNvSpPr/>
          <p:nvPr/>
        </p:nvSpPr>
        <p:spPr>
          <a:xfrm>
            <a:off x="1005840" y="5239512"/>
            <a:ext cx="91440" cy="91440"/>
          </a:xfrm>
          <a:prstGeom prst="ellipse">
            <a:avLst/>
          </a:prstGeom>
          <a:solidFill>
            <a:srgbClr val="6DC0C8"/>
          </a:solidFill>
          <a:ln w="12700">
            <a:solidFill>
              <a:srgbClr val="333333"/>
            </a:solidFill>
            <a:prstDash val="solid"/>
          </a:ln>
        </p:spPr>
      </p:sp>
      <p:sp>
        <p:nvSpPr>
          <p:cNvPr id="28" name="Text 26"/>
          <p:cNvSpPr/>
          <p:nvPr/>
        </p:nvSpPr>
        <p:spPr>
          <a:xfrm>
            <a:off x="1170432" y="5148072"/>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Pitch deck v1 — fact-based, no DEI fluff</a:t>
            </a:r>
            <a:endParaRPr lang="en-US" sz="900" dirty="0"/>
          </a:p>
        </p:txBody>
      </p:sp>
      <p:sp>
        <p:nvSpPr>
          <p:cNvPr id="29" name="Shape 27"/>
          <p:cNvSpPr/>
          <p:nvPr/>
        </p:nvSpPr>
        <p:spPr>
          <a:xfrm>
            <a:off x="1005840" y="5623560"/>
            <a:ext cx="91440" cy="91440"/>
          </a:xfrm>
          <a:prstGeom prst="ellipse">
            <a:avLst/>
          </a:prstGeom>
          <a:solidFill>
            <a:srgbClr val="6DC0C8"/>
          </a:solidFill>
          <a:ln w="12700">
            <a:solidFill>
              <a:srgbClr val="333333"/>
            </a:solidFill>
            <a:prstDash val="solid"/>
          </a:ln>
        </p:spPr>
      </p:sp>
      <p:sp>
        <p:nvSpPr>
          <p:cNvPr id="30" name="Text 28"/>
          <p:cNvSpPr/>
          <p:nvPr/>
        </p:nvSpPr>
        <p:spPr>
          <a:xfrm>
            <a:off x="1170432" y="553212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First external presentations (target: 2 meetings)</a:t>
            </a:r>
            <a:endParaRPr lang="en-US" sz="900" dirty="0"/>
          </a:p>
        </p:txBody>
      </p:sp>
      <p:sp>
        <p:nvSpPr>
          <p:cNvPr id="31" name="Shape 29"/>
          <p:cNvSpPr/>
          <p:nvPr/>
        </p:nvSpPr>
        <p:spPr>
          <a:xfrm>
            <a:off x="1005840" y="6007608"/>
            <a:ext cx="91440" cy="91440"/>
          </a:xfrm>
          <a:prstGeom prst="ellipse">
            <a:avLst/>
          </a:prstGeom>
          <a:solidFill>
            <a:srgbClr val="6DC0C8"/>
          </a:solidFill>
          <a:ln w="12700">
            <a:solidFill>
              <a:srgbClr val="333333"/>
            </a:solidFill>
            <a:prstDash val="solid"/>
          </a:ln>
        </p:spPr>
      </p:sp>
      <p:sp>
        <p:nvSpPr>
          <p:cNvPr id="32" name="Text 30"/>
          <p:cNvSpPr/>
          <p:nvPr/>
        </p:nvSpPr>
        <p:spPr>
          <a:xfrm>
            <a:off x="1170432" y="591616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Commercial terms, contribution %, governance</a:t>
            </a:r>
            <a:endParaRPr lang="en-US" sz="900" dirty="0"/>
          </a:p>
        </p:txBody>
      </p:sp>
      <p:sp>
        <p:nvSpPr>
          <p:cNvPr id="33" name="Shape 31"/>
          <p:cNvSpPr/>
          <p:nvPr/>
        </p:nvSpPr>
        <p:spPr>
          <a:xfrm>
            <a:off x="4434840" y="2697480"/>
            <a:ext cx="3520440" cy="3657600"/>
          </a:xfrm>
          <a:prstGeom prst="roundRect">
            <a:avLst>
              <a:gd name="adj" fmla="val 519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4" name="Shape 32"/>
          <p:cNvSpPr/>
          <p:nvPr/>
        </p:nvSpPr>
        <p:spPr>
          <a:xfrm>
            <a:off x="4572000" y="2734056"/>
            <a:ext cx="3246120" cy="22860"/>
          </a:xfrm>
          <a:prstGeom prst="rect">
            <a:avLst/>
          </a:prstGeom>
          <a:solidFill>
            <a:srgbClr val="FFFFFF">
              <a:alpha val="90000"/>
            </a:srgbClr>
          </a:solidFill>
          <a:ln w="12700">
            <a:solidFill>
              <a:srgbClr val="333333"/>
            </a:solidFill>
            <a:prstDash val="solid"/>
          </a:ln>
        </p:spPr>
      </p:sp>
      <p:sp>
        <p:nvSpPr>
          <p:cNvPr id="35" name="Text 33"/>
          <p:cNvSpPr/>
          <p:nvPr/>
        </p:nvSpPr>
        <p:spPr>
          <a:xfrm>
            <a:off x="4709160" y="2816352"/>
            <a:ext cx="3108960" cy="457200"/>
          </a:xfrm>
          <a:prstGeom prst="rect">
            <a:avLst/>
          </a:prstGeom>
          <a:noFill/>
          <a:ln/>
        </p:spPr>
        <p:txBody>
          <a:bodyPr wrap="square" rtlCol="0" anchor="ctr"/>
          <a:lstStyle/>
          <a:p>
            <a:pPr indent="0" marL="0">
              <a:buNone/>
            </a:pPr>
            <a:r>
              <a:rPr lang="en-US" sz="1600" b="1" dirty="0">
                <a:solidFill>
                  <a:srgbClr val="0D3B2E"/>
                </a:solidFill>
                <a:latin typeface="Arial" pitchFamily="34" charset="0"/>
                <a:ea typeface="Arial" pitchFamily="34" charset="-122"/>
                <a:cs typeface="Arial" pitchFamily="34" charset="-120"/>
              </a:rPr>
              <a:t>May</a:t>
            </a:r>
            <a:endParaRPr lang="en-US" sz="1600" dirty="0"/>
          </a:p>
        </p:txBody>
      </p:sp>
      <p:sp>
        <p:nvSpPr>
          <p:cNvPr id="36" name="Text 34"/>
          <p:cNvSpPr/>
          <p:nvPr/>
        </p:nvSpPr>
        <p:spPr>
          <a:xfrm>
            <a:off x="4709160" y="324612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VALIDATE &amp; SELL</a:t>
            </a:r>
            <a:endParaRPr lang="en-US" sz="800" dirty="0"/>
          </a:p>
        </p:txBody>
      </p:sp>
      <p:sp>
        <p:nvSpPr>
          <p:cNvPr id="37" name="Shape 35"/>
          <p:cNvSpPr/>
          <p:nvPr/>
        </p:nvSpPr>
        <p:spPr>
          <a:xfrm>
            <a:off x="4709160" y="3703320"/>
            <a:ext cx="91440" cy="91440"/>
          </a:xfrm>
          <a:prstGeom prst="ellipse">
            <a:avLst/>
          </a:prstGeom>
          <a:solidFill>
            <a:srgbClr val="F5B896"/>
          </a:solidFill>
          <a:ln w="12700">
            <a:solidFill>
              <a:srgbClr val="333333"/>
            </a:solidFill>
            <a:prstDash val="solid"/>
          </a:ln>
        </p:spPr>
      </p:sp>
      <p:sp>
        <p:nvSpPr>
          <p:cNvPr id="38" name="Text 36"/>
          <p:cNvSpPr/>
          <p:nvPr/>
        </p:nvSpPr>
        <p:spPr>
          <a:xfrm>
            <a:off x="4873752" y="361188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Desk research: ING / ABN / Van Lanschot offer</a:t>
            </a:r>
            <a:endParaRPr lang="en-US" sz="900" dirty="0"/>
          </a:p>
        </p:txBody>
      </p:sp>
      <p:sp>
        <p:nvSpPr>
          <p:cNvPr id="39" name="Shape 37"/>
          <p:cNvSpPr/>
          <p:nvPr/>
        </p:nvSpPr>
        <p:spPr>
          <a:xfrm>
            <a:off x="4709160" y="4087368"/>
            <a:ext cx="91440" cy="91440"/>
          </a:xfrm>
          <a:prstGeom prst="ellipse">
            <a:avLst/>
          </a:prstGeom>
          <a:solidFill>
            <a:srgbClr val="F5B896"/>
          </a:solidFill>
          <a:ln w="12700">
            <a:solidFill>
              <a:srgbClr val="333333"/>
            </a:solidFill>
            <a:prstDash val="solid"/>
          </a:ln>
        </p:spPr>
      </p:sp>
      <p:sp>
        <p:nvSpPr>
          <p:cNvPr id="40" name="Text 38"/>
          <p:cNvSpPr/>
          <p:nvPr/>
        </p:nvSpPr>
        <p:spPr>
          <a:xfrm>
            <a:off x="4873752" y="399592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Readiness Scan pilots with 1–2 anchor clients</a:t>
            </a:r>
            <a:endParaRPr lang="en-US" sz="900" dirty="0"/>
          </a:p>
        </p:txBody>
      </p:sp>
      <p:sp>
        <p:nvSpPr>
          <p:cNvPr id="41" name="Shape 39"/>
          <p:cNvSpPr/>
          <p:nvPr/>
        </p:nvSpPr>
        <p:spPr>
          <a:xfrm>
            <a:off x="4709160" y="4471416"/>
            <a:ext cx="91440" cy="91440"/>
          </a:xfrm>
          <a:prstGeom prst="ellipse">
            <a:avLst/>
          </a:prstGeom>
          <a:solidFill>
            <a:srgbClr val="F5B896"/>
          </a:solidFill>
          <a:ln w="12700">
            <a:solidFill>
              <a:srgbClr val="333333"/>
            </a:solidFill>
            <a:prstDash val="solid"/>
          </a:ln>
        </p:spPr>
      </p:sp>
      <p:sp>
        <p:nvSpPr>
          <p:cNvPr id="42" name="Text 40"/>
          <p:cNvSpPr/>
          <p:nvPr/>
        </p:nvSpPr>
        <p:spPr>
          <a:xfrm>
            <a:off x="4873752" y="4379976"/>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Customer journey (incl. 24-hour scan format)</a:t>
            </a:r>
            <a:endParaRPr lang="en-US" sz="900" dirty="0"/>
          </a:p>
        </p:txBody>
      </p:sp>
      <p:sp>
        <p:nvSpPr>
          <p:cNvPr id="43" name="Shape 41"/>
          <p:cNvSpPr/>
          <p:nvPr/>
        </p:nvSpPr>
        <p:spPr>
          <a:xfrm>
            <a:off x="4709160" y="4855464"/>
            <a:ext cx="91440" cy="91440"/>
          </a:xfrm>
          <a:prstGeom prst="ellipse">
            <a:avLst/>
          </a:prstGeom>
          <a:solidFill>
            <a:srgbClr val="F5B896"/>
          </a:solidFill>
          <a:ln w="12700">
            <a:solidFill>
              <a:srgbClr val="333333"/>
            </a:solidFill>
            <a:prstDash val="solid"/>
          </a:ln>
        </p:spPr>
      </p:sp>
      <p:sp>
        <p:nvSpPr>
          <p:cNvPr id="44" name="Text 42"/>
          <p:cNvSpPr/>
          <p:nvPr/>
        </p:nvSpPr>
        <p:spPr>
          <a:xfrm>
            <a:off x="4873752" y="4764024"/>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Price architecture: A/B/C/D + subscription tiers</a:t>
            </a:r>
            <a:endParaRPr lang="en-US" sz="900" dirty="0"/>
          </a:p>
        </p:txBody>
      </p:sp>
      <p:sp>
        <p:nvSpPr>
          <p:cNvPr id="45" name="Shape 43"/>
          <p:cNvSpPr/>
          <p:nvPr/>
        </p:nvSpPr>
        <p:spPr>
          <a:xfrm>
            <a:off x="4709160" y="5239512"/>
            <a:ext cx="91440" cy="91440"/>
          </a:xfrm>
          <a:prstGeom prst="ellipse">
            <a:avLst/>
          </a:prstGeom>
          <a:solidFill>
            <a:srgbClr val="F5B896"/>
          </a:solidFill>
          <a:ln w="12700">
            <a:solidFill>
              <a:srgbClr val="333333"/>
            </a:solidFill>
            <a:prstDash val="solid"/>
          </a:ln>
        </p:spPr>
      </p:sp>
      <p:sp>
        <p:nvSpPr>
          <p:cNvPr id="46" name="Text 44"/>
          <p:cNvSpPr/>
          <p:nvPr/>
        </p:nvSpPr>
        <p:spPr>
          <a:xfrm>
            <a:off x="4873752" y="5148072"/>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Pitch deck live — min. 5 qualified conversations</a:t>
            </a:r>
            <a:endParaRPr lang="en-US" sz="900" dirty="0"/>
          </a:p>
        </p:txBody>
      </p:sp>
      <p:sp>
        <p:nvSpPr>
          <p:cNvPr id="47" name="Shape 45"/>
          <p:cNvSpPr/>
          <p:nvPr/>
        </p:nvSpPr>
        <p:spPr>
          <a:xfrm>
            <a:off x="4709160" y="5623560"/>
            <a:ext cx="91440" cy="91440"/>
          </a:xfrm>
          <a:prstGeom prst="ellipse">
            <a:avLst/>
          </a:prstGeom>
          <a:solidFill>
            <a:srgbClr val="F5B896"/>
          </a:solidFill>
          <a:ln w="12700">
            <a:solidFill>
              <a:srgbClr val="333333"/>
            </a:solidFill>
            <a:prstDash val="solid"/>
          </a:ln>
        </p:spPr>
      </p:sp>
      <p:sp>
        <p:nvSpPr>
          <p:cNvPr id="48" name="Text 46"/>
          <p:cNvSpPr/>
          <p:nvPr/>
        </p:nvSpPr>
        <p:spPr>
          <a:xfrm>
            <a:off x="4873752" y="553212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Explore Certified Audit product definition</a:t>
            </a:r>
            <a:endParaRPr lang="en-US" sz="900" dirty="0"/>
          </a:p>
        </p:txBody>
      </p:sp>
      <p:sp>
        <p:nvSpPr>
          <p:cNvPr id="49" name="Shape 47"/>
          <p:cNvSpPr/>
          <p:nvPr/>
        </p:nvSpPr>
        <p:spPr>
          <a:xfrm>
            <a:off x="4709160" y="6007608"/>
            <a:ext cx="91440" cy="91440"/>
          </a:xfrm>
          <a:prstGeom prst="ellipse">
            <a:avLst/>
          </a:prstGeom>
          <a:solidFill>
            <a:srgbClr val="F5B896"/>
          </a:solidFill>
          <a:ln w="12700">
            <a:solidFill>
              <a:srgbClr val="333333"/>
            </a:solidFill>
            <a:prstDash val="solid"/>
          </a:ln>
        </p:spPr>
      </p:sp>
      <p:sp>
        <p:nvSpPr>
          <p:cNvPr id="50" name="Text 48"/>
          <p:cNvSpPr/>
          <p:nvPr/>
        </p:nvSpPr>
        <p:spPr>
          <a:xfrm>
            <a:off x="4873752" y="591616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World Bank: confirm scope, deliverables, first milestone</a:t>
            </a:r>
            <a:endParaRPr lang="en-US" sz="900" dirty="0"/>
          </a:p>
        </p:txBody>
      </p:sp>
      <p:sp>
        <p:nvSpPr>
          <p:cNvPr id="51" name="Shape 49"/>
          <p:cNvSpPr/>
          <p:nvPr/>
        </p:nvSpPr>
        <p:spPr>
          <a:xfrm>
            <a:off x="8138160" y="2697480"/>
            <a:ext cx="3520440" cy="3657600"/>
          </a:xfrm>
          <a:prstGeom prst="roundRect">
            <a:avLst>
              <a:gd name="adj" fmla="val 519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52" name="Shape 50"/>
          <p:cNvSpPr/>
          <p:nvPr/>
        </p:nvSpPr>
        <p:spPr>
          <a:xfrm>
            <a:off x="8275320" y="2734056"/>
            <a:ext cx="3246120" cy="22860"/>
          </a:xfrm>
          <a:prstGeom prst="rect">
            <a:avLst/>
          </a:prstGeom>
          <a:solidFill>
            <a:srgbClr val="FFFFFF">
              <a:alpha val="90000"/>
            </a:srgbClr>
          </a:solidFill>
          <a:ln w="12700">
            <a:solidFill>
              <a:srgbClr val="333333"/>
            </a:solidFill>
            <a:prstDash val="solid"/>
          </a:ln>
        </p:spPr>
      </p:sp>
      <p:sp>
        <p:nvSpPr>
          <p:cNvPr id="53" name="Text 51"/>
          <p:cNvSpPr/>
          <p:nvPr/>
        </p:nvSpPr>
        <p:spPr>
          <a:xfrm>
            <a:off x="8412480" y="2816352"/>
            <a:ext cx="3108960" cy="457200"/>
          </a:xfrm>
          <a:prstGeom prst="rect">
            <a:avLst/>
          </a:prstGeom>
          <a:noFill/>
          <a:ln/>
        </p:spPr>
        <p:txBody>
          <a:bodyPr wrap="square" rtlCol="0" anchor="ctr"/>
          <a:lstStyle/>
          <a:p>
            <a:pPr indent="0" marL="0">
              <a:buNone/>
            </a:pPr>
            <a:r>
              <a:rPr lang="en-US" sz="1600" b="1" dirty="0">
                <a:solidFill>
                  <a:srgbClr val="0D3B2E"/>
                </a:solidFill>
                <a:latin typeface="Arial" pitchFamily="34" charset="0"/>
                <a:ea typeface="Arial" pitchFamily="34" charset="-122"/>
                <a:cs typeface="Arial" pitchFamily="34" charset="-120"/>
              </a:rPr>
              <a:t>June</a:t>
            </a:r>
            <a:endParaRPr lang="en-US" sz="1600" dirty="0"/>
          </a:p>
        </p:txBody>
      </p:sp>
      <p:sp>
        <p:nvSpPr>
          <p:cNvPr id="54" name="Text 52"/>
          <p:cNvSpPr/>
          <p:nvPr/>
        </p:nvSpPr>
        <p:spPr>
          <a:xfrm>
            <a:off x="8412480" y="324612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FIRST REVENUE &amp; ARCHITECTURE</a:t>
            </a:r>
            <a:endParaRPr lang="en-US" sz="800" dirty="0"/>
          </a:p>
        </p:txBody>
      </p:sp>
      <p:sp>
        <p:nvSpPr>
          <p:cNvPr id="55" name="Shape 53"/>
          <p:cNvSpPr/>
          <p:nvPr/>
        </p:nvSpPr>
        <p:spPr>
          <a:xfrm>
            <a:off x="8412480" y="3703320"/>
            <a:ext cx="91440" cy="91440"/>
          </a:xfrm>
          <a:prstGeom prst="ellipse">
            <a:avLst/>
          </a:prstGeom>
          <a:solidFill>
            <a:srgbClr val="F2D080"/>
          </a:solidFill>
          <a:ln w="12700">
            <a:solidFill>
              <a:srgbClr val="333333"/>
            </a:solidFill>
            <a:prstDash val="solid"/>
          </a:ln>
        </p:spPr>
      </p:sp>
      <p:sp>
        <p:nvSpPr>
          <p:cNvPr id="56" name="Text 54"/>
          <p:cNvSpPr/>
          <p:nvPr/>
        </p:nvSpPr>
        <p:spPr>
          <a:xfrm>
            <a:off x="8577072" y="361188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Close first paying client (≥ 1 advisory trajectory)</a:t>
            </a:r>
            <a:endParaRPr lang="en-US" sz="900" dirty="0"/>
          </a:p>
        </p:txBody>
      </p:sp>
      <p:sp>
        <p:nvSpPr>
          <p:cNvPr id="57" name="Shape 55"/>
          <p:cNvSpPr/>
          <p:nvPr/>
        </p:nvSpPr>
        <p:spPr>
          <a:xfrm>
            <a:off x="8412480" y="4087368"/>
            <a:ext cx="91440" cy="91440"/>
          </a:xfrm>
          <a:prstGeom prst="ellipse">
            <a:avLst/>
          </a:prstGeom>
          <a:solidFill>
            <a:srgbClr val="F2D080"/>
          </a:solidFill>
          <a:ln w="12700">
            <a:solidFill>
              <a:srgbClr val="333333"/>
            </a:solidFill>
            <a:prstDash val="solid"/>
          </a:ln>
        </p:spPr>
      </p:sp>
      <p:sp>
        <p:nvSpPr>
          <p:cNvPr id="58" name="Text 56"/>
          <p:cNvSpPr/>
          <p:nvPr/>
        </p:nvSpPr>
        <p:spPr>
          <a:xfrm>
            <a:off x="8577072" y="399592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Platform architecture sketch</a:t>
            </a:r>
            <a:endParaRPr lang="en-US" sz="900" dirty="0"/>
          </a:p>
        </p:txBody>
      </p:sp>
      <p:sp>
        <p:nvSpPr>
          <p:cNvPr id="59" name="Shape 57"/>
          <p:cNvSpPr/>
          <p:nvPr/>
        </p:nvSpPr>
        <p:spPr>
          <a:xfrm>
            <a:off x="8412480" y="4471416"/>
            <a:ext cx="91440" cy="91440"/>
          </a:xfrm>
          <a:prstGeom prst="ellipse">
            <a:avLst/>
          </a:prstGeom>
          <a:solidFill>
            <a:srgbClr val="F2D080"/>
          </a:solidFill>
          <a:ln w="12700">
            <a:solidFill>
              <a:srgbClr val="333333"/>
            </a:solidFill>
            <a:prstDash val="solid"/>
          </a:ln>
        </p:spPr>
      </p:sp>
      <p:sp>
        <p:nvSpPr>
          <p:cNvPr id="60" name="Text 58"/>
          <p:cNvSpPr/>
          <p:nvPr/>
        </p:nvSpPr>
        <p:spPr>
          <a:xfrm>
            <a:off x="8577072" y="4379976"/>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Define funnel stages + CRM process</a:t>
            </a:r>
            <a:endParaRPr lang="en-US" sz="900" dirty="0"/>
          </a:p>
        </p:txBody>
      </p:sp>
      <p:sp>
        <p:nvSpPr>
          <p:cNvPr id="61" name="Shape 59"/>
          <p:cNvSpPr/>
          <p:nvPr/>
        </p:nvSpPr>
        <p:spPr>
          <a:xfrm>
            <a:off x="8412480" y="4855464"/>
            <a:ext cx="91440" cy="91440"/>
          </a:xfrm>
          <a:prstGeom prst="ellipse">
            <a:avLst/>
          </a:prstGeom>
          <a:solidFill>
            <a:srgbClr val="F2D080"/>
          </a:solidFill>
          <a:ln w="12700">
            <a:solidFill>
              <a:srgbClr val="333333"/>
            </a:solidFill>
            <a:prstDash val="solid"/>
          </a:ln>
        </p:spPr>
      </p:sp>
      <p:sp>
        <p:nvSpPr>
          <p:cNvPr id="62" name="Text 60"/>
          <p:cNvSpPr/>
          <p:nvPr/>
        </p:nvSpPr>
        <p:spPr>
          <a:xfrm>
            <a:off x="8577072" y="4764024"/>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Membership community soft launch — founding members</a:t>
            </a:r>
            <a:endParaRPr lang="en-US" sz="900" dirty="0"/>
          </a:p>
        </p:txBody>
      </p:sp>
      <p:sp>
        <p:nvSpPr>
          <p:cNvPr id="63" name="Shape 61"/>
          <p:cNvSpPr/>
          <p:nvPr/>
        </p:nvSpPr>
        <p:spPr>
          <a:xfrm>
            <a:off x="8412480" y="5239512"/>
            <a:ext cx="91440" cy="91440"/>
          </a:xfrm>
          <a:prstGeom prst="ellipse">
            <a:avLst/>
          </a:prstGeom>
          <a:solidFill>
            <a:srgbClr val="F2D080"/>
          </a:solidFill>
          <a:ln w="12700">
            <a:solidFill>
              <a:srgbClr val="333333"/>
            </a:solidFill>
            <a:prstDash val="solid"/>
          </a:ln>
        </p:spPr>
      </p:sp>
      <p:sp>
        <p:nvSpPr>
          <p:cNvPr id="64" name="Text 62"/>
          <p:cNvSpPr/>
          <p:nvPr/>
        </p:nvSpPr>
        <p:spPr>
          <a:xfrm>
            <a:off x="8577072" y="5148072"/>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Subscription model ready to sell</a:t>
            </a:r>
            <a:endParaRPr lang="en-US" sz="900" dirty="0"/>
          </a:p>
        </p:txBody>
      </p:sp>
      <p:sp>
        <p:nvSpPr>
          <p:cNvPr id="65" name="Shape 63"/>
          <p:cNvSpPr/>
          <p:nvPr/>
        </p:nvSpPr>
        <p:spPr>
          <a:xfrm>
            <a:off x="8412480" y="5623560"/>
            <a:ext cx="91440" cy="91440"/>
          </a:xfrm>
          <a:prstGeom prst="ellipse">
            <a:avLst/>
          </a:prstGeom>
          <a:solidFill>
            <a:srgbClr val="F2D080"/>
          </a:solidFill>
          <a:ln w="12700">
            <a:solidFill>
              <a:srgbClr val="333333"/>
            </a:solidFill>
            <a:prstDash val="solid"/>
          </a:ln>
        </p:spPr>
      </p:sp>
      <p:sp>
        <p:nvSpPr>
          <p:cNvPr id="66" name="Text 64"/>
          <p:cNvSpPr/>
          <p:nvPr/>
        </p:nvSpPr>
        <p:spPr>
          <a:xfrm>
            <a:off x="8577072" y="553212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Begin Certified Practitioner programme design (Britt)</a:t>
            </a:r>
            <a:endParaRPr lang="en-US" sz="900" dirty="0"/>
          </a:p>
        </p:txBody>
      </p:sp>
      <p:sp>
        <p:nvSpPr>
          <p:cNvPr id="67" name="Shape 65"/>
          <p:cNvSpPr/>
          <p:nvPr/>
        </p:nvSpPr>
        <p:spPr>
          <a:xfrm>
            <a:off x="8412480" y="6007608"/>
            <a:ext cx="91440" cy="91440"/>
          </a:xfrm>
          <a:prstGeom prst="ellipse">
            <a:avLst/>
          </a:prstGeom>
          <a:solidFill>
            <a:srgbClr val="F2D080"/>
          </a:solidFill>
          <a:ln w="12700">
            <a:solidFill>
              <a:srgbClr val="333333"/>
            </a:solidFill>
            <a:prstDash val="solid"/>
          </a:ln>
        </p:spPr>
      </p:sp>
      <p:sp>
        <p:nvSpPr>
          <p:cNvPr id="68" name="Text 66"/>
          <p:cNvSpPr/>
          <p:nvPr/>
        </p:nvSpPr>
        <p:spPr>
          <a:xfrm>
            <a:off x="8577072" y="591616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Review: on track for Year 1 revenue goal?</a:t>
            </a:r>
            <a:endParaRPr lang="en-US" sz="900" dirty="0"/>
          </a:p>
        </p:txBody>
      </p:sp>
      <p:sp>
        <p:nvSpPr>
          <p:cNvPr id="69" name="Text 67"/>
          <p:cNvSpPr/>
          <p:nvPr/>
        </p:nvSpPr>
        <p:spPr>
          <a:xfrm>
            <a:off x="731520" y="6446520"/>
            <a:ext cx="10515600" cy="274320"/>
          </a:xfrm>
          <a:prstGeom prst="rect">
            <a:avLst/>
          </a:prstGeom>
          <a:noFill/>
          <a:ln/>
        </p:spPr>
        <p:txBody>
          <a:bodyPr wrap="square" rtlCol="0" anchor="ctr"/>
          <a:lstStyle/>
          <a:p>
            <a:pPr indent="0" marL="0">
              <a:buNone/>
            </a:pPr>
            <a:r>
              <a:rPr lang="en-US" sz="900" i="1" dirty="0">
                <a:solidFill>
                  <a:srgbClr val="0D3B2E">
                    <a:alpha val="55000"/>
                  </a:srgbClr>
                </a:solidFill>
                <a:latin typeface="Arial" pitchFamily="34" charset="0"/>
                <a:ea typeface="Arial" pitchFamily="34" charset="-122"/>
                <a:cs typeface="Arial" pitchFamily="34" charset="-120"/>
              </a:rPr>
              <a:t>Forcing function: the World Bank did not ask for a side project. They asked for us. The sprint exists so the firm exists in the shape that mandate deserves.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10 · Team &amp; Roadmap</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10 · TEAM &amp; ROADMAP</a:t>
            </a:r>
            <a:endParaRPr lang="en-US" sz="800" dirty="0"/>
          </a:p>
        </p:txBody>
      </p:sp>
      <p:sp>
        <p:nvSpPr>
          <p:cNvPr id="13" name="Text 11"/>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Three founders. Clear roles. A ladder from Year 1 to Year 3.</a:t>
            </a:r>
            <a:endParaRPr lang="en-US" sz="2200" dirty="0"/>
          </a:p>
        </p:txBody>
      </p:sp>
      <p:sp>
        <p:nvSpPr>
          <p:cNvPr id="14" name="Shape 12"/>
          <p:cNvSpPr/>
          <p:nvPr/>
        </p:nvSpPr>
        <p:spPr>
          <a:xfrm>
            <a:off x="731520" y="2011680"/>
            <a:ext cx="3520440" cy="2194560"/>
          </a:xfrm>
          <a:prstGeom prst="roundRect">
            <a:avLst>
              <a:gd name="adj" fmla="val 8333"/>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5" name="Shape 13"/>
          <p:cNvSpPr/>
          <p:nvPr/>
        </p:nvSpPr>
        <p:spPr>
          <a:xfrm>
            <a:off x="868680" y="2048256"/>
            <a:ext cx="3246120" cy="22860"/>
          </a:xfrm>
          <a:prstGeom prst="rect">
            <a:avLst/>
          </a:prstGeom>
          <a:solidFill>
            <a:srgbClr val="FFFFFF">
              <a:alpha val="90000"/>
            </a:srgbClr>
          </a:solidFill>
          <a:ln w="12700">
            <a:solidFill>
              <a:srgbClr val="333333"/>
            </a:solidFill>
            <a:prstDash val="solid"/>
          </a:ln>
        </p:spPr>
      </p:sp>
      <p:sp>
        <p:nvSpPr>
          <p:cNvPr id="16" name="Shape 14"/>
          <p:cNvSpPr/>
          <p:nvPr/>
        </p:nvSpPr>
        <p:spPr>
          <a:xfrm>
            <a:off x="2148840" y="2194560"/>
            <a:ext cx="685800" cy="685800"/>
          </a:xfrm>
          <a:prstGeom prst="ellipse">
            <a:avLst/>
          </a:prstGeom>
          <a:solidFill>
            <a:srgbClr val="6DC0C8"/>
          </a:solidFill>
          <a:ln w="12700">
            <a:solidFill>
              <a:srgbClr val="333333"/>
            </a:solidFill>
            <a:prstDash val="solid"/>
          </a:ln>
        </p:spPr>
      </p:sp>
      <p:sp>
        <p:nvSpPr>
          <p:cNvPr id="17" name="Text 15"/>
          <p:cNvSpPr/>
          <p:nvPr/>
        </p:nvSpPr>
        <p:spPr>
          <a:xfrm>
            <a:off x="2148840" y="2194560"/>
            <a:ext cx="685800" cy="685800"/>
          </a:xfrm>
          <a:prstGeom prst="rect">
            <a:avLst/>
          </a:prstGeom>
          <a:noFill/>
          <a:ln/>
        </p:spPr>
        <p:txBody>
          <a:bodyPr wrap="square" rtlCol="0" anchor="ctr"/>
          <a:lstStyle/>
          <a:p>
            <a:pPr algn="ctr" indent="0" marL="0">
              <a:buNone/>
            </a:pPr>
            <a:r>
              <a:rPr lang="en-US" sz="1300" b="1" dirty="0">
                <a:solidFill>
                  <a:srgbClr val="EAF6F1"/>
                </a:solidFill>
                <a:latin typeface="Arial" pitchFamily="34" charset="0"/>
                <a:ea typeface="Arial" pitchFamily="34" charset="-122"/>
                <a:cs typeface="Arial" pitchFamily="34" charset="-120"/>
              </a:rPr>
              <a:t>CK</a:t>
            </a:r>
            <a:endParaRPr lang="en-US" sz="1300" dirty="0"/>
          </a:p>
        </p:txBody>
      </p:sp>
      <p:sp>
        <p:nvSpPr>
          <p:cNvPr id="18" name="Text 16"/>
          <p:cNvSpPr/>
          <p:nvPr/>
        </p:nvSpPr>
        <p:spPr>
          <a:xfrm>
            <a:off x="1005840" y="2971800"/>
            <a:ext cx="3108960" cy="365760"/>
          </a:xfrm>
          <a:prstGeom prst="rect">
            <a:avLst/>
          </a:prstGeom>
          <a:noFill/>
          <a:ln/>
        </p:spPr>
        <p:txBody>
          <a:bodyPr wrap="square" rtlCol="0" anchor="ctr"/>
          <a:lstStyle/>
          <a:p>
            <a:pPr algn="ctr" indent="0" marL="0">
              <a:buNone/>
            </a:pPr>
            <a:r>
              <a:rPr lang="en-US" sz="1300" b="1" dirty="0">
                <a:solidFill>
                  <a:srgbClr val="0D3B2E"/>
                </a:solidFill>
                <a:latin typeface="Arial" pitchFamily="34" charset="0"/>
                <a:ea typeface="Arial" pitchFamily="34" charset="-122"/>
                <a:cs typeface="Arial" pitchFamily="34" charset="-120"/>
              </a:rPr>
              <a:t>Chantal Korteweg</a:t>
            </a:r>
            <a:endParaRPr lang="en-US" sz="1300" dirty="0"/>
          </a:p>
        </p:txBody>
      </p:sp>
      <p:sp>
        <p:nvSpPr>
          <p:cNvPr id="19" name="Text 17"/>
          <p:cNvSpPr/>
          <p:nvPr/>
        </p:nvSpPr>
        <p:spPr>
          <a:xfrm>
            <a:off x="1005840" y="3291840"/>
            <a:ext cx="3108960" cy="274320"/>
          </a:xfrm>
          <a:prstGeom prst="rect">
            <a:avLst/>
          </a:prstGeom>
          <a:noFill/>
          <a:ln/>
        </p:spPr>
        <p:txBody>
          <a:bodyPr wrap="square" rtlCol="0" anchor="ctr"/>
          <a:lstStyle/>
          <a:p>
            <a:pPr algn="ctr" indent="0" marL="0">
              <a:buNone/>
            </a:pPr>
            <a:r>
              <a:rPr lang="en-US" sz="900" dirty="0">
                <a:solidFill>
                  <a:srgbClr val="0D3B2E">
                    <a:alpha val="55000"/>
                  </a:srgbClr>
                </a:solidFill>
                <a:latin typeface="Arial" pitchFamily="34" charset="0"/>
                <a:ea typeface="Arial" pitchFamily="34" charset="-122"/>
                <a:cs typeface="Arial" pitchFamily="34" charset="-120"/>
              </a:rPr>
              <a:t>Chief Expert &amp; External Relations</a:t>
            </a:r>
            <a:endParaRPr lang="en-US" sz="900" dirty="0"/>
          </a:p>
        </p:txBody>
      </p:sp>
      <p:sp>
        <p:nvSpPr>
          <p:cNvPr id="20" name="Text 18"/>
          <p:cNvSpPr/>
          <p:nvPr/>
        </p:nvSpPr>
        <p:spPr>
          <a:xfrm>
            <a:off x="1005840" y="3611880"/>
            <a:ext cx="3108960" cy="777240"/>
          </a:xfrm>
          <a:prstGeom prst="rect">
            <a:avLst/>
          </a:prstGeom>
          <a:noFill/>
          <a:ln/>
        </p:spPr>
        <p:txBody>
          <a:bodyPr wrap="square" rtlCol="0" anchor="t"/>
          <a:lstStyle/>
          <a:p>
            <a:pPr algn="ctr" indent="0" marL="0">
              <a:lnSpc>
                <a:spcPts val="1300"/>
              </a:lnSpc>
              <a:buNone/>
            </a:pPr>
            <a:r>
              <a:rPr lang="en-US" sz="900" dirty="0">
                <a:solidFill>
                  <a:srgbClr val="0D3B2E">
                    <a:alpha val="70000"/>
                  </a:srgbClr>
                </a:solidFill>
                <a:latin typeface="Arial" pitchFamily="34" charset="0"/>
                <a:ea typeface="Arial" pitchFamily="34" charset="-122"/>
                <a:cs typeface="Arial" pitchFamily="34" charset="-120"/>
              </a:rPr>
              <a:t>Leads the methodology, the World Bank relationship, and access to the senior network — ministers, royalty, C-suite.</a:t>
            </a:r>
            <a:endParaRPr lang="en-US" sz="900" dirty="0"/>
          </a:p>
        </p:txBody>
      </p:sp>
      <p:sp>
        <p:nvSpPr>
          <p:cNvPr id="21" name="Shape 19"/>
          <p:cNvSpPr/>
          <p:nvPr/>
        </p:nvSpPr>
        <p:spPr>
          <a:xfrm>
            <a:off x="4434840" y="2011680"/>
            <a:ext cx="3520440" cy="2194560"/>
          </a:xfrm>
          <a:prstGeom prst="roundRect">
            <a:avLst>
              <a:gd name="adj" fmla="val 8333"/>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2" name="Shape 20"/>
          <p:cNvSpPr/>
          <p:nvPr/>
        </p:nvSpPr>
        <p:spPr>
          <a:xfrm>
            <a:off x="4572000" y="2048256"/>
            <a:ext cx="3246120" cy="22860"/>
          </a:xfrm>
          <a:prstGeom prst="rect">
            <a:avLst/>
          </a:prstGeom>
          <a:solidFill>
            <a:srgbClr val="FFFFFF">
              <a:alpha val="90000"/>
            </a:srgbClr>
          </a:solidFill>
          <a:ln w="12700">
            <a:solidFill>
              <a:srgbClr val="333333"/>
            </a:solidFill>
            <a:prstDash val="solid"/>
          </a:ln>
        </p:spPr>
      </p:sp>
      <p:sp>
        <p:nvSpPr>
          <p:cNvPr id="23" name="Shape 21"/>
          <p:cNvSpPr/>
          <p:nvPr/>
        </p:nvSpPr>
        <p:spPr>
          <a:xfrm>
            <a:off x="5852160" y="2194560"/>
            <a:ext cx="685800" cy="685800"/>
          </a:xfrm>
          <a:prstGeom prst="ellipse">
            <a:avLst/>
          </a:prstGeom>
          <a:solidFill>
            <a:srgbClr val="F5B896"/>
          </a:solidFill>
          <a:ln w="12700">
            <a:solidFill>
              <a:srgbClr val="333333"/>
            </a:solidFill>
            <a:prstDash val="solid"/>
          </a:ln>
        </p:spPr>
      </p:sp>
      <p:sp>
        <p:nvSpPr>
          <p:cNvPr id="24" name="Text 22"/>
          <p:cNvSpPr/>
          <p:nvPr/>
        </p:nvSpPr>
        <p:spPr>
          <a:xfrm>
            <a:off x="5852160" y="2194560"/>
            <a:ext cx="685800" cy="685800"/>
          </a:xfrm>
          <a:prstGeom prst="rect">
            <a:avLst/>
          </a:prstGeom>
          <a:noFill/>
          <a:ln/>
        </p:spPr>
        <p:txBody>
          <a:bodyPr wrap="square" rtlCol="0" anchor="ctr"/>
          <a:lstStyle/>
          <a:p>
            <a:pPr algn="ctr" indent="0" marL="0">
              <a:buNone/>
            </a:pPr>
            <a:r>
              <a:rPr lang="en-US" sz="1300" b="1" dirty="0">
                <a:solidFill>
                  <a:srgbClr val="EAF6F1"/>
                </a:solidFill>
                <a:latin typeface="Arial" pitchFamily="34" charset="0"/>
                <a:ea typeface="Arial" pitchFamily="34" charset="-122"/>
                <a:cs typeface="Arial" pitchFamily="34" charset="-120"/>
              </a:rPr>
              <a:t>BJ</a:t>
            </a:r>
            <a:endParaRPr lang="en-US" sz="1300" dirty="0"/>
          </a:p>
        </p:txBody>
      </p:sp>
      <p:sp>
        <p:nvSpPr>
          <p:cNvPr id="25" name="Text 23"/>
          <p:cNvSpPr/>
          <p:nvPr/>
        </p:nvSpPr>
        <p:spPr>
          <a:xfrm>
            <a:off x="4709160" y="2971800"/>
            <a:ext cx="3108960" cy="365760"/>
          </a:xfrm>
          <a:prstGeom prst="rect">
            <a:avLst/>
          </a:prstGeom>
          <a:noFill/>
          <a:ln/>
        </p:spPr>
        <p:txBody>
          <a:bodyPr wrap="square" rtlCol="0" anchor="ctr"/>
          <a:lstStyle/>
          <a:p>
            <a:pPr algn="ctr" indent="0" marL="0">
              <a:buNone/>
            </a:pPr>
            <a:r>
              <a:rPr lang="en-US" sz="1300" b="1" dirty="0">
                <a:solidFill>
                  <a:srgbClr val="0D3B2E"/>
                </a:solidFill>
                <a:latin typeface="Arial" pitchFamily="34" charset="0"/>
                <a:ea typeface="Arial" pitchFamily="34" charset="-122"/>
                <a:cs typeface="Arial" pitchFamily="34" charset="-120"/>
              </a:rPr>
              <a:t>Britt Jacobs</a:t>
            </a:r>
            <a:endParaRPr lang="en-US" sz="1300" dirty="0"/>
          </a:p>
        </p:txBody>
      </p:sp>
      <p:sp>
        <p:nvSpPr>
          <p:cNvPr id="26" name="Text 24"/>
          <p:cNvSpPr/>
          <p:nvPr/>
        </p:nvSpPr>
        <p:spPr>
          <a:xfrm>
            <a:off x="4709160" y="3291840"/>
            <a:ext cx="3108960" cy="274320"/>
          </a:xfrm>
          <a:prstGeom prst="rect">
            <a:avLst/>
          </a:prstGeom>
          <a:noFill/>
          <a:ln/>
        </p:spPr>
        <p:txBody>
          <a:bodyPr wrap="square" rtlCol="0" anchor="ctr"/>
          <a:lstStyle/>
          <a:p>
            <a:pPr algn="ctr" indent="0" marL="0">
              <a:buNone/>
            </a:pPr>
            <a:r>
              <a:rPr lang="en-US" sz="900" dirty="0">
                <a:solidFill>
                  <a:srgbClr val="0D3B2E">
                    <a:alpha val="55000"/>
                  </a:srgbClr>
                </a:solidFill>
                <a:latin typeface="Arial" pitchFamily="34" charset="0"/>
                <a:ea typeface="Arial" pitchFamily="34" charset="-122"/>
                <a:cs typeface="Arial" pitchFamily="34" charset="-120"/>
              </a:rPr>
              <a:t>Chief Delivery &amp; Learning</a:t>
            </a:r>
            <a:endParaRPr lang="en-US" sz="900" dirty="0"/>
          </a:p>
        </p:txBody>
      </p:sp>
      <p:sp>
        <p:nvSpPr>
          <p:cNvPr id="27" name="Text 25"/>
          <p:cNvSpPr/>
          <p:nvPr/>
        </p:nvSpPr>
        <p:spPr>
          <a:xfrm>
            <a:off x="4709160" y="3611880"/>
            <a:ext cx="3108960" cy="777240"/>
          </a:xfrm>
          <a:prstGeom prst="rect">
            <a:avLst/>
          </a:prstGeom>
          <a:noFill/>
          <a:ln/>
        </p:spPr>
        <p:txBody>
          <a:bodyPr wrap="square" rtlCol="0" anchor="t"/>
          <a:lstStyle/>
          <a:p>
            <a:pPr algn="ctr" indent="0" marL="0">
              <a:lnSpc>
                <a:spcPts val="1300"/>
              </a:lnSpc>
              <a:buNone/>
            </a:pPr>
            <a:r>
              <a:rPr lang="en-US" sz="900" dirty="0">
                <a:solidFill>
                  <a:srgbClr val="0D3B2E">
                    <a:alpha val="70000"/>
                  </a:srgbClr>
                </a:solidFill>
                <a:latin typeface="Arial" pitchFamily="34" charset="0"/>
                <a:ea typeface="Arial" pitchFamily="34" charset="-122"/>
                <a:cs typeface="Arial" pitchFamily="34" charset="-120"/>
              </a:rPr>
              <a:t>Leads service design, the academy, certification, and client delivery quality. Speaker capability anchors thought leadership.</a:t>
            </a:r>
            <a:endParaRPr lang="en-US" sz="900" dirty="0"/>
          </a:p>
        </p:txBody>
      </p:sp>
      <p:sp>
        <p:nvSpPr>
          <p:cNvPr id="28" name="Shape 26"/>
          <p:cNvSpPr/>
          <p:nvPr/>
        </p:nvSpPr>
        <p:spPr>
          <a:xfrm>
            <a:off x="8138160" y="2011680"/>
            <a:ext cx="3520440" cy="2194560"/>
          </a:xfrm>
          <a:prstGeom prst="roundRect">
            <a:avLst>
              <a:gd name="adj" fmla="val 8333"/>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9" name="Shape 27"/>
          <p:cNvSpPr/>
          <p:nvPr/>
        </p:nvSpPr>
        <p:spPr>
          <a:xfrm>
            <a:off x="8275320" y="2048256"/>
            <a:ext cx="3246120" cy="22860"/>
          </a:xfrm>
          <a:prstGeom prst="rect">
            <a:avLst/>
          </a:prstGeom>
          <a:solidFill>
            <a:srgbClr val="FFFFFF">
              <a:alpha val="90000"/>
            </a:srgbClr>
          </a:solidFill>
          <a:ln w="12700">
            <a:solidFill>
              <a:srgbClr val="333333"/>
            </a:solidFill>
            <a:prstDash val="solid"/>
          </a:ln>
        </p:spPr>
      </p:sp>
      <p:sp>
        <p:nvSpPr>
          <p:cNvPr id="30" name="Shape 28"/>
          <p:cNvSpPr/>
          <p:nvPr/>
        </p:nvSpPr>
        <p:spPr>
          <a:xfrm>
            <a:off x="9555480" y="2194560"/>
            <a:ext cx="685800" cy="685800"/>
          </a:xfrm>
          <a:prstGeom prst="ellipse">
            <a:avLst/>
          </a:prstGeom>
          <a:solidFill>
            <a:srgbClr val="F2D080"/>
          </a:solidFill>
          <a:ln w="12700">
            <a:solidFill>
              <a:srgbClr val="333333"/>
            </a:solidFill>
            <a:prstDash val="solid"/>
          </a:ln>
        </p:spPr>
      </p:sp>
      <p:sp>
        <p:nvSpPr>
          <p:cNvPr id="31" name="Text 29"/>
          <p:cNvSpPr/>
          <p:nvPr/>
        </p:nvSpPr>
        <p:spPr>
          <a:xfrm>
            <a:off x="9555480" y="2194560"/>
            <a:ext cx="685800" cy="685800"/>
          </a:xfrm>
          <a:prstGeom prst="rect">
            <a:avLst/>
          </a:prstGeom>
          <a:noFill/>
          <a:ln/>
        </p:spPr>
        <p:txBody>
          <a:bodyPr wrap="square" rtlCol="0" anchor="ctr"/>
          <a:lstStyle/>
          <a:p>
            <a:pPr algn="ctr" indent="0" marL="0">
              <a:buNone/>
            </a:pPr>
            <a:r>
              <a:rPr lang="en-US" sz="1300" b="1" dirty="0">
                <a:solidFill>
                  <a:srgbClr val="EAF6F1"/>
                </a:solidFill>
                <a:latin typeface="Arial" pitchFamily="34" charset="0"/>
                <a:ea typeface="Arial" pitchFamily="34" charset="-122"/>
                <a:cs typeface="Arial" pitchFamily="34" charset="-120"/>
              </a:rPr>
              <a:t>CM</a:t>
            </a:r>
            <a:endParaRPr lang="en-US" sz="1300" dirty="0"/>
          </a:p>
        </p:txBody>
      </p:sp>
      <p:sp>
        <p:nvSpPr>
          <p:cNvPr id="32" name="Text 30"/>
          <p:cNvSpPr/>
          <p:nvPr/>
        </p:nvSpPr>
        <p:spPr>
          <a:xfrm>
            <a:off x="8412480" y="2971800"/>
            <a:ext cx="3108960" cy="365760"/>
          </a:xfrm>
          <a:prstGeom prst="rect">
            <a:avLst/>
          </a:prstGeom>
          <a:noFill/>
          <a:ln/>
        </p:spPr>
        <p:txBody>
          <a:bodyPr wrap="square" rtlCol="0" anchor="ctr"/>
          <a:lstStyle/>
          <a:p>
            <a:pPr algn="ctr" indent="0" marL="0">
              <a:buNone/>
            </a:pPr>
            <a:r>
              <a:rPr lang="en-US" sz="1300" b="1" dirty="0">
                <a:solidFill>
                  <a:srgbClr val="0D3B2E"/>
                </a:solidFill>
                <a:latin typeface="Arial" pitchFamily="34" charset="0"/>
                <a:ea typeface="Arial" pitchFamily="34" charset="-122"/>
                <a:cs typeface="Arial" pitchFamily="34" charset="-120"/>
              </a:rPr>
              <a:t>Chief Commercial &amp; Marketing</a:t>
            </a:r>
            <a:endParaRPr lang="en-US" sz="1300" dirty="0"/>
          </a:p>
        </p:txBody>
      </p:sp>
      <p:sp>
        <p:nvSpPr>
          <p:cNvPr id="33" name="Text 31"/>
          <p:cNvSpPr/>
          <p:nvPr/>
        </p:nvSpPr>
        <p:spPr>
          <a:xfrm>
            <a:off x="8412480" y="3291840"/>
            <a:ext cx="3108960" cy="274320"/>
          </a:xfrm>
          <a:prstGeom prst="rect">
            <a:avLst/>
          </a:prstGeom>
          <a:noFill/>
          <a:ln/>
        </p:spPr>
        <p:txBody>
          <a:bodyPr wrap="square" rtlCol="0" anchor="ctr"/>
          <a:lstStyle/>
          <a:p>
            <a:pPr algn="ctr" indent="0" marL="0">
              <a:buNone/>
            </a:pPr>
            <a:r>
              <a:rPr lang="en-US" sz="900" dirty="0">
                <a:solidFill>
                  <a:srgbClr val="0D3B2E">
                    <a:alpha val="55000"/>
                  </a:srgbClr>
                </a:solidFill>
                <a:latin typeface="Arial" pitchFamily="34" charset="0"/>
                <a:ea typeface="Arial" pitchFamily="34" charset="-122"/>
                <a:cs typeface="Arial" pitchFamily="34" charset="-120"/>
              </a:rPr>
              <a:t>Founding Partner</a:t>
            </a:r>
            <a:endParaRPr lang="en-US" sz="900" dirty="0"/>
          </a:p>
        </p:txBody>
      </p:sp>
      <p:sp>
        <p:nvSpPr>
          <p:cNvPr id="34" name="Text 32"/>
          <p:cNvSpPr/>
          <p:nvPr/>
        </p:nvSpPr>
        <p:spPr>
          <a:xfrm>
            <a:off x="8412480" y="3611880"/>
            <a:ext cx="3108960" cy="777240"/>
          </a:xfrm>
          <a:prstGeom prst="rect">
            <a:avLst/>
          </a:prstGeom>
          <a:noFill/>
          <a:ln/>
        </p:spPr>
        <p:txBody>
          <a:bodyPr wrap="square" rtlCol="0" anchor="t"/>
          <a:lstStyle/>
          <a:p>
            <a:pPr algn="ctr" indent="0" marL="0">
              <a:lnSpc>
                <a:spcPts val="1300"/>
              </a:lnSpc>
              <a:buNone/>
            </a:pPr>
            <a:r>
              <a:rPr lang="en-US" sz="900" dirty="0">
                <a:solidFill>
                  <a:srgbClr val="0D3B2E">
                    <a:alpha val="70000"/>
                  </a:srgbClr>
                </a:solidFill>
                <a:latin typeface="Arial" pitchFamily="34" charset="0"/>
                <a:ea typeface="Arial" pitchFamily="34" charset="-122"/>
                <a:cs typeface="Arial" pitchFamily="34" charset="-120"/>
              </a:rPr>
              <a:t>Leads positioning, the pitch, prospect development, brand and commercial conversion. Owns the firm's revenue engine.</a:t>
            </a:r>
            <a:endParaRPr lang="en-US" sz="900" dirty="0"/>
          </a:p>
        </p:txBody>
      </p:sp>
      <p:sp>
        <p:nvSpPr>
          <p:cNvPr id="35" name="Shape 33"/>
          <p:cNvSpPr/>
          <p:nvPr/>
        </p:nvSpPr>
        <p:spPr>
          <a:xfrm>
            <a:off x="731520" y="4434840"/>
            <a:ext cx="1069848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6" name="Shape 34"/>
          <p:cNvSpPr/>
          <p:nvPr/>
        </p:nvSpPr>
        <p:spPr>
          <a:xfrm>
            <a:off x="868680" y="4471416"/>
            <a:ext cx="10424160" cy="22860"/>
          </a:xfrm>
          <a:prstGeom prst="rect">
            <a:avLst/>
          </a:prstGeom>
          <a:solidFill>
            <a:srgbClr val="FFFFFF">
              <a:alpha val="90000"/>
            </a:srgbClr>
          </a:solidFill>
          <a:ln w="12700">
            <a:solidFill>
              <a:srgbClr val="333333"/>
            </a:solidFill>
            <a:prstDash val="solid"/>
          </a:ln>
        </p:spPr>
      </p:sp>
      <p:sp>
        <p:nvSpPr>
          <p:cNvPr id="37" name="Text 35"/>
          <p:cNvSpPr/>
          <p:nvPr/>
        </p:nvSpPr>
        <p:spPr>
          <a:xfrm>
            <a:off x="914400" y="4526280"/>
            <a:ext cx="36576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YEAR 1 → YEAR 3</a:t>
            </a:r>
            <a:endParaRPr lang="en-US" sz="800" dirty="0"/>
          </a:p>
        </p:txBody>
      </p:sp>
      <p:sp>
        <p:nvSpPr>
          <p:cNvPr id="38" name="Text 36"/>
          <p:cNvSpPr/>
          <p:nvPr/>
        </p:nvSpPr>
        <p:spPr>
          <a:xfrm>
            <a:off x="914400" y="4892040"/>
            <a:ext cx="1188720" cy="365760"/>
          </a:xfrm>
          <a:prstGeom prst="rect">
            <a:avLst/>
          </a:prstGeom>
          <a:noFill/>
          <a:ln/>
        </p:spPr>
        <p:txBody>
          <a:bodyPr wrap="square" rtlCol="0" anchor="ctr"/>
          <a:lstStyle/>
          <a:p>
            <a:pPr indent="0" marL="0">
              <a:buNone/>
            </a:pPr>
            <a:r>
              <a:rPr lang="en-US" sz="1100" b="1" dirty="0">
                <a:solidFill>
                  <a:srgbClr val="0D3B2E">
                    <a:alpha val="55000"/>
                  </a:srgbClr>
                </a:solidFill>
                <a:latin typeface="Arial" pitchFamily="34" charset="0"/>
                <a:ea typeface="Arial" pitchFamily="34" charset="-122"/>
                <a:cs typeface="Arial" pitchFamily="34" charset="-120"/>
              </a:rPr>
              <a:t>Year 1</a:t>
            </a:r>
            <a:endParaRPr lang="en-US" sz="1100" dirty="0"/>
          </a:p>
        </p:txBody>
      </p:sp>
      <p:sp>
        <p:nvSpPr>
          <p:cNvPr id="39" name="Text 37"/>
          <p:cNvSpPr/>
          <p:nvPr/>
        </p:nvSpPr>
        <p:spPr>
          <a:xfrm>
            <a:off x="2194560" y="4873752"/>
            <a:ext cx="9144000" cy="502920"/>
          </a:xfrm>
          <a:prstGeom prst="rect">
            <a:avLst/>
          </a:prstGeom>
          <a:noFill/>
          <a:ln/>
        </p:spPr>
        <p:txBody>
          <a:bodyPr wrap="square" rtlCol="0" anchor="t"/>
          <a:lstStyle/>
          <a:p>
            <a:pPr indent="0" marL="0">
              <a:lnSpc>
                <a:spcPts val="1400"/>
              </a:lnSpc>
              <a:buNone/>
            </a:pPr>
            <a:r>
              <a:rPr lang="en-US" sz="950" b="1" dirty="0">
                <a:solidFill>
                  <a:srgbClr val="0D3B2E"/>
                </a:solidFill>
                <a:latin typeface="Arial" pitchFamily="34" charset="0"/>
                <a:ea typeface="Arial" pitchFamily="34" charset="-122"/>
                <a:cs typeface="Arial" pitchFamily="34" charset="-120"/>
              </a:rPr>
              <a:t>FOUNDATION. </a:t>
            </a:r>
            <a:pPr indent="0" marL="0">
              <a:lnSpc>
                <a:spcPts val="1400"/>
              </a:lnSpc>
              <a:buNone/>
            </a:pPr>
            <a:r>
              <a:rPr lang="en-US" sz="950" dirty="0">
                <a:solidFill>
                  <a:srgbClr val="0D3B2E"/>
                </a:solidFill>
                <a:latin typeface="Arial" pitchFamily="34" charset="0"/>
                <a:ea typeface="Arial" pitchFamily="34" charset="-122"/>
                <a:cs typeface="Arial" pitchFamily="34" charset="-120"/>
              </a:rPr>
              <a:t>World Bank delivery underway. First 10 corporate clients beyond WB. Readiness Scan + Advisory Trajectory live. Certified Practitioner programme designed. Flagship report published. Operating model and governance finalised.</a:t>
            </a:r>
            <a:endParaRPr lang="en-US" sz="950" dirty="0"/>
          </a:p>
        </p:txBody>
      </p:sp>
      <p:sp>
        <p:nvSpPr>
          <p:cNvPr id="40" name="Text 38"/>
          <p:cNvSpPr/>
          <p:nvPr/>
        </p:nvSpPr>
        <p:spPr>
          <a:xfrm>
            <a:off x="914400" y="5422392"/>
            <a:ext cx="1188720" cy="365760"/>
          </a:xfrm>
          <a:prstGeom prst="rect">
            <a:avLst/>
          </a:prstGeom>
          <a:noFill/>
          <a:ln/>
        </p:spPr>
        <p:txBody>
          <a:bodyPr wrap="square" rtlCol="0" anchor="ctr"/>
          <a:lstStyle/>
          <a:p>
            <a:pPr indent="0" marL="0">
              <a:buNone/>
            </a:pPr>
            <a:r>
              <a:rPr lang="en-US" sz="1100" b="1" dirty="0">
                <a:solidFill>
                  <a:srgbClr val="0D3B2E">
                    <a:alpha val="55000"/>
                  </a:srgbClr>
                </a:solidFill>
                <a:latin typeface="Arial" pitchFamily="34" charset="0"/>
                <a:ea typeface="Arial" pitchFamily="34" charset="-122"/>
                <a:cs typeface="Arial" pitchFamily="34" charset="-120"/>
              </a:rPr>
              <a:t>Year 2</a:t>
            </a:r>
            <a:endParaRPr lang="en-US" sz="1100" dirty="0"/>
          </a:p>
        </p:txBody>
      </p:sp>
      <p:sp>
        <p:nvSpPr>
          <p:cNvPr id="41" name="Text 39"/>
          <p:cNvSpPr/>
          <p:nvPr/>
        </p:nvSpPr>
        <p:spPr>
          <a:xfrm>
            <a:off x="2194560" y="5404104"/>
            <a:ext cx="9144000" cy="502920"/>
          </a:xfrm>
          <a:prstGeom prst="rect">
            <a:avLst/>
          </a:prstGeom>
          <a:noFill/>
          <a:ln/>
        </p:spPr>
        <p:txBody>
          <a:bodyPr wrap="square" rtlCol="0" anchor="t"/>
          <a:lstStyle/>
          <a:p>
            <a:pPr indent="0" marL="0">
              <a:lnSpc>
                <a:spcPts val="1400"/>
              </a:lnSpc>
              <a:buNone/>
            </a:pPr>
            <a:r>
              <a:rPr lang="en-US" sz="950" b="1" dirty="0">
                <a:solidFill>
                  <a:srgbClr val="0D3B2E"/>
                </a:solidFill>
                <a:latin typeface="Arial" pitchFamily="34" charset="0"/>
                <a:ea typeface="Arial" pitchFamily="34" charset="-122"/>
                <a:cs typeface="Arial" pitchFamily="34" charset="-120"/>
              </a:rPr>
              <a:t>SCALE. </a:t>
            </a:r>
            <a:pPr indent="0" marL="0">
              <a:lnSpc>
                <a:spcPts val="1400"/>
              </a:lnSpc>
              <a:buNone/>
            </a:pPr>
            <a:r>
              <a:rPr lang="en-US" sz="950" dirty="0">
                <a:solidFill>
                  <a:srgbClr val="0D3B2E"/>
                </a:solidFill>
                <a:latin typeface="Arial" pitchFamily="34" charset="0"/>
                <a:ea typeface="Arial" pitchFamily="34" charset="-122"/>
                <a:cs typeface="Arial" pitchFamily="34" charset="-120"/>
              </a:rPr>
              <a:t>Certified partner shell activated — trained ZZP practitioners take on larger mandates without permanent headcount. Membership community monetised. Advisory Trajectory scales across Dutch and European FIs. World Bank expands into additional countries.</a:t>
            </a:r>
            <a:endParaRPr lang="en-US" sz="950" dirty="0"/>
          </a:p>
        </p:txBody>
      </p:sp>
      <p:sp>
        <p:nvSpPr>
          <p:cNvPr id="42" name="Text 40"/>
          <p:cNvSpPr/>
          <p:nvPr/>
        </p:nvSpPr>
        <p:spPr>
          <a:xfrm>
            <a:off x="914400" y="5952744"/>
            <a:ext cx="1188720" cy="365760"/>
          </a:xfrm>
          <a:prstGeom prst="rect">
            <a:avLst/>
          </a:prstGeom>
          <a:noFill/>
          <a:ln/>
        </p:spPr>
        <p:txBody>
          <a:bodyPr wrap="square" rtlCol="0" anchor="ctr"/>
          <a:lstStyle/>
          <a:p>
            <a:pPr indent="0" marL="0">
              <a:buNone/>
            </a:pPr>
            <a:r>
              <a:rPr lang="en-US" sz="1100" b="1" dirty="0">
                <a:solidFill>
                  <a:srgbClr val="0D3B2E">
                    <a:alpha val="55000"/>
                  </a:srgbClr>
                </a:solidFill>
                <a:latin typeface="Arial" pitchFamily="34" charset="0"/>
                <a:ea typeface="Arial" pitchFamily="34" charset="-122"/>
                <a:cs typeface="Arial" pitchFamily="34" charset="-120"/>
              </a:rPr>
              <a:t>Year 3</a:t>
            </a:r>
            <a:endParaRPr lang="en-US" sz="1100" dirty="0"/>
          </a:p>
        </p:txBody>
      </p:sp>
      <p:sp>
        <p:nvSpPr>
          <p:cNvPr id="43" name="Text 41"/>
          <p:cNvSpPr/>
          <p:nvPr/>
        </p:nvSpPr>
        <p:spPr>
          <a:xfrm>
            <a:off x="2194560" y="5934456"/>
            <a:ext cx="9144000" cy="502920"/>
          </a:xfrm>
          <a:prstGeom prst="rect">
            <a:avLst/>
          </a:prstGeom>
          <a:noFill/>
          <a:ln/>
        </p:spPr>
        <p:txBody>
          <a:bodyPr wrap="square" rtlCol="0" anchor="t"/>
          <a:lstStyle/>
          <a:p>
            <a:pPr indent="0" marL="0">
              <a:lnSpc>
                <a:spcPts val="1400"/>
              </a:lnSpc>
              <a:buNone/>
            </a:pPr>
            <a:r>
              <a:rPr lang="en-US" sz="950" b="1" dirty="0">
                <a:solidFill>
                  <a:srgbClr val="0D3B2E"/>
                </a:solidFill>
                <a:latin typeface="Arial" pitchFamily="34" charset="0"/>
                <a:ea typeface="Arial" pitchFamily="34" charset="-122"/>
                <a:cs typeface="Arial" pitchFamily="34" charset="-120"/>
              </a:rPr>
              <a:t>PLATFORM. </a:t>
            </a:r>
            <a:pPr indent="0" marL="0">
              <a:lnSpc>
                <a:spcPts val="1400"/>
              </a:lnSpc>
              <a:buNone/>
            </a:pPr>
            <a:r>
              <a:rPr lang="en-US" sz="950" dirty="0">
                <a:solidFill>
                  <a:srgbClr val="0D3B2E"/>
                </a:solidFill>
                <a:latin typeface="Arial" pitchFamily="34" charset="0"/>
                <a:ea typeface="Arial" pitchFamily="34" charset="-122"/>
                <a:cs typeface="Arial" pitchFamily="34" charset="-120"/>
              </a:rPr>
              <a:t>AI-assisted advisory layer deployed. Funder panel co-invests in new products. IFC is the definitive voice on the commercial case for inclusion. Founders match prior salaries at 50% of the time.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3200400" y="-3200400"/>
            <a:ext cx="8229600" cy="8229600"/>
          </a:xfrm>
          <a:prstGeom prst="ellipse">
            <a:avLst/>
          </a:prstGeom>
          <a:solidFill>
            <a:srgbClr val="6DC0C8">
              <a:alpha val="28000"/>
            </a:srgbClr>
          </a:solidFill>
          <a:ln w="12700">
            <a:solidFill>
              <a:srgbClr val="333333"/>
            </a:solidFill>
            <a:prstDash val="solid"/>
          </a:ln>
        </p:spPr>
      </p:sp>
      <p:sp>
        <p:nvSpPr>
          <p:cNvPr id="3" name="Shape 1"/>
          <p:cNvSpPr/>
          <p:nvPr/>
        </p:nvSpPr>
        <p:spPr>
          <a:xfrm>
            <a:off x="6858000" y="-3200400"/>
            <a:ext cx="8229600" cy="8229600"/>
          </a:xfrm>
          <a:prstGeom prst="ellipse">
            <a:avLst/>
          </a:prstGeom>
          <a:solidFill>
            <a:srgbClr val="F5B896">
              <a:alpha val="26000"/>
            </a:srgbClr>
          </a:solidFill>
          <a:ln w="12700">
            <a:solidFill>
              <a:srgbClr val="333333"/>
            </a:solidFill>
            <a:prstDash val="solid"/>
          </a:ln>
        </p:spPr>
      </p:sp>
      <p:sp>
        <p:nvSpPr>
          <p:cNvPr id="4" name="Shape 2"/>
          <p:cNvSpPr/>
          <p:nvPr/>
        </p:nvSpPr>
        <p:spPr>
          <a:xfrm>
            <a:off x="6858000" y="2286000"/>
            <a:ext cx="8229600" cy="8229600"/>
          </a:xfrm>
          <a:prstGeom prst="ellipse">
            <a:avLst/>
          </a:prstGeom>
          <a:solidFill>
            <a:srgbClr val="F2D080">
              <a:alpha val="24000"/>
            </a:srgbClr>
          </a:solidFill>
          <a:ln w="12700">
            <a:solidFill>
              <a:srgbClr val="333333"/>
            </a:solidFill>
            <a:prstDash val="solid"/>
          </a:ln>
        </p:spPr>
      </p:sp>
      <p:sp>
        <p:nvSpPr>
          <p:cNvPr id="5" name="Shape 3"/>
          <p:cNvSpPr/>
          <p:nvPr/>
        </p:nvSpPr>
        <p:spPr>
          <a:xfrm>
            <a:off x="-3200400" y="2286000"/>
            <a:ext cx="8229600" cy="8229600"/>
          </a:xfrm>
          <a:prstGeom prst="ellipse">
            <a:avLst/>
          </a:prstGeom>
          <a:solidFill>
            <a:srgbClr val="9FD4B0">
              <a:alpha val="28000"/>
            </a:srgbClr>
          </a:solidFill>
          <a:ln w="12700">
            <a:solidFill>
              <a:srgbClr val="333333"/>
            </a:solidFill>
            <a:prstDash val="solid"/>
          </a:ln>
        </p:spPr>
      </p:sp>
      <p:sp>
        <p:nvSpPr>
          <p:cNvPr id="6" name="Shape 4"/>
          <p:cNvSpPr/>
          <p:nvPr/>
        </p:nvSpPr>
        <p:spPr>
          <a:xfrm>
            <a:off x="457200" y="457200"/>
            <a:ext cx="2011680" cy="2011680"/>
          </a:xfrm>
          <a:prstGeom prst="ellipse">
            <a:avLst/>
          </a:prstGeom>
          <a:solidFill>
            <a:srgbClr val="FFFFFF">
              <a:alpha val="45000"/>
            </a:srgbClr>
          </a:solidFill>
          <a:ln w="12700">
            <a:solidFill>
              <a:srgbClr val="333333"/>
            </a:solidFill>
            <a:prstDash val="solid"/>
          </a:ln>
        </p:spPr>
      </p:sp>
      <p:sp>
        <p:nvSpPr>
          <p:cNvPr id="7" name="Shape 5"/>
          <p:cNvSpPr/>
          <p:nvPr/>
        </p:nvSpPr>
        <p:spPr>
          <a:xfrm>
            <a:off x="9601200" y="731520"/>
            <a:ext cx="1828800" cy="1828800"/>
          </a:xfrm>
          <a:prstGeom prst="ellipse">
            <a:avLst/>
          </a:prstGeom>
          <a:solidFill>
            <a:srgbClr val="FFFFFF">
              <a:alpha val="40000"/>
            </a:srgbClr>
          </a:solidFill>
          <a:ln w="12700">
            <a:solidFill>
              <a:srgbClr val="333333"/>
            </a:solidFill>
            <a:prstDash val="solid"/>
          </a:ln>
        </p:spPr>
      </p:sp>
      <p:sp>
        <p:nvSpPr>
          <p:cNvPr id="8" name="Shape 6"/>
          <p:cNvSpPr/>
          <p:nvPr/>
        </p:nvSpPr>
        <p:spPr>
          <a:xfrm>
            <a:off x="9144000" y="4389120"/>
            <a:ext cx="2011680" cy="2011680"/>
          </a:xfrm>
          <a:prstGeom prst="ellipse">
            <a:avLst/>
          </a:prstGeom>
          <a:solidFill>
            <a:srgbClr val="FFFFFF">
              <a:alpha val="42000"/>
            </a:srgbClr>
          </a:solidFill>
          <a:ln w="12700">
            <a:solidFill>
              <a:srgbClr val="333333"/>
            </a:solidFill>
            <a:prstDash val="solid"/>
          </a:ln>
        </p:spPr>
      </p:sp>
      <p:sp>
        <p:nvSpPr>
          <p:cNvPr id="9" name="Shape 7"/>
          <p:cNvSpPr/>
          <p:nvPr/>
        </p:nvSpPr>
        <p:spPr>
          <a:xfrm>
            <a:off x="731520" y="4389120"/>
            <a:ext cx="1828800" cy="1828800"/>
          </a:xfrm>
          <a:prstGeom prst="ellipse">
            <a:avLst/>
          </a:prstGeom>
          <a:solidFill>
            <a:srgbClr val="FFFFFF">
              <a:alpha val="40000"/>
            </a:srgbClr>
          </a:solidFill>
          <a:ln w="12700">
            <a:solidFill>
              <a:srgbClr val="333333"/>
            </a:solidFill>
            <a:prstDash val="solid"/>
          </a:ln>
        </p:spPr>
      </p:sp>
      <p:sp>
        <p:nvSpPr>
          <p:cNvPr id="10" name="Text 8"/>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11" name="Text 9"/>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11 · Close</a:t>
            </a:r>
            <a:endParaRPr lang="en-US" sz="900" dirty="0"/>
          </a:p>
        </p:txBody>
      </p:sp>
      <p:sp>
        <p:nvSpPr>
          <p:cNvPr id="12" name="Text 10"/>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11 · THE BOTTOM LINE</a:t>
            </a:r>
            <a:endParaRPr lang="en-US" sz="800" dirty="0"/>
          </a:p>
        </p:txBody>
      </p:sp>
      <p:sp>
        <p:nvSpPr>
          <p:cNvPr id="13" name="Text 11"/>
          <p:cNvSpPr/>
          <p:nvPr/>
        </p:nvSpPr>
        <p:spPr>
          <a:xfrm>
            <a:off x="731520" y="1645920"/>
            <a:ext cx="10515600" cy="3200400"/>
          </a:xfrm>
          <a:prstGeom prst="rect">
            <a:avLst/>
          </a:prstGeom>
          <a:noFill/>
          <a:ln/>
        </p:spPr>
        <p:txBody>
          <a:bodyPr wrap="square" rtlCol="0" anchor="t"/>
          <a:lstStyle/>
          <a:p>
            <a:pPr indent="0" marL="0">
              <a:lnSpc>
                <a:spcPts val="3600"/>
              </a:lnSpc>
              <a:buNone/>
            </a:pPr>
            <a:r>
              <a:rPr lang="en-US" sz="2600" b="1" dirty="0">
                <a:solidFill>
                  <a:srgbClr val="0D3B2E"/>
                </a:solidFill>
                <a:latin typeface="Arial" pitchFamily="34" charset="0"/>
                <a:ea typeface="Arial" pitchFamily="34" charset="-122"/>
                <a:cs typeface="Arial" pitchFamily="34" charset="-120"/>
              </a:rPr>
              <a:t>We left Hei~Bos with a methodology, a revenue model, a network map, a 90-day plan, and a shared definition of success.
</a:t>
            </a:r>
            <a:pPr indent="0" marL="0">
              <a:buNone/>
            </a:pPr>
            <a:r>
              <a:rPr lang="en-US" sz="3000" b="1" dirty="0">
                <a:solidFill>
                  <a:srgbClr val="6DC0C8"/>
                </a:solidFill>
                <a:latin typeface="Arial" pitchFamily="34" charset="0"/>
                <a:ea typeface="Arial" pitchFamily="34" charset="-122"/>
                <a:cs typeface="Arial" pitchFamily="34" charset="-120"/>
              </a:rPr>
              <a:t>The only thing left to do is execute.</a:t>
            </a:r>
            <a:endParaRPr lang="en-US" sz="2600" dirty="0"/>
          </a:p>
        </p:txBody>
      </p:sp>
      <p:sp>
        <p:nvSpPr>
          <p:cNvPr id="14" name="Text 12"/>
          <p:cNvSpPr/>
          <p:nvPr/>
        </p:nvSpPr>
        <p:spPr>
          <a:xfrm>
            <a:off x="731520" y="4846320"/>
            <a:ext cx="10058400" cy="822960"/>
          </a:xfrm>
          <a:prstGeom prst="rect">
            <a:avLst/>
          </a:prstGeom>
          <a:noFill/>
          <a:ln/>
        </p:spPr>
        <p:txBody>
          <a:bodyPr wrap="square" rtlCol="0" anchor="ctr"/>
          <a:lstStyle/>
          <a:p>
            <a:pPr indent="0" marL="0">
              <a:lnSpc>
                <a:spcPts val="2200"/>
              </a:lnSpc>
              <a:buNone/>
            </a:pPr>
            <a:r>
              <a:rPr lang="en-US" sz="1400" dirty="0">
                <a:solidFill>
                  <a:srgbClr val="0D3B2E">
                    <a:alpha val="70000"/>
                  </a:srgbClr>
                </a:solidFill>
                <a:latin typeface="Arial" pitchFamily="34" charset="0"/>
                <a:ea typeface="Arial" pitchFamily="34" charset="-122"/>
                <a:cs typeface="Arial" pitchFamily="34" charset="-120"/>
              </a:rPr>
              <a:t>The women reshaping the economy — as entrepreneurs, earners and wealth owners — need firms that understand them. We are that firm. And we move now.</a:t>
            </a:r>
            <a:endParaRPr lang="en-US" sz="1400" dirty="0"/>
          </a:p>
        </p:txBody>
      </p:sp>
      <p:sp>
        <p:nvSpPr>
          <p:cNvPr id="15" name="Shape 13"/>
          <p:cNvSpPr/>
          <p:nvPr/>
        </p:nvSpPr>
        <p:spPr>
          <a:xfrm>
            <a:off x="731520" y="5760720"/>
            <a:ext cx="2240280" cy="27432"/>
          </a:xfrm>
          <a:prstGeom prst="rect">
            <a:avLst/>
          </a:prstGeom>
          <a:solidFill>
            <a:srgbClr val="0D3B2E"/>
          </a:solidFill>
          <a:ln w="12700">
            <a:solidFill>
              <a:srgbClr val="333333"/>
            </a:solidFill>
            <a:prstDash val="solid"/>
          </a:ln>
        </p:spPr>
      </p:sp>
      <p:sp>
        <p:nvSpPr>
          <p:cNvPr id="16" name="Shape 14"/>
          <p:cNvSpPr/>
          <p:nvPr/>
        </p:nvSpPr>
        <p:spPr>
          <a:xfrm>
            <a:off x="2971800" y="5650992"/>
            <a:ext cx="4160520" cy="22860"/>
          </a:xfrm>
          <a:prstGeom prst="rect">
            <a:avLst/>
          </a:prstGeom>
          <a:solidFill>
            <a:srgbClr val="6DC0C8"/>
          </a:solidFill>
          <a:ln w="12700">
            <a:solidFill>
              <a:srgbClr val="333333"/>
            </a:solidFill>
            <a:prstDash val="solid"/>
          </a:ln>
        </p:spPr>
      </p:sp>
      <p:sp>
        <p:nvSpPr>
          <p:cNvPr id="17" name="Shape 15"/>
          <p:cNvSpPr/>
          <p:nvPr/>
        </p:nvSpPr>
        <p:spPr>
          <a:xfrm>
            <a:off x="2971800" y="5724144"/>
            <a:ext cx="4160520" cy="22860"/>
          </a:xfrm>
          <a:prstGeom prst="rect">
            <a:avLst/>
          </a:prstGeom>
          <a:solidFill>
            <a:srgbClr val="F5B896"/>
          </a:solidFill>
          <a:ln w="12700">
            <a:solidFill>
              <a:srgbClr val="333333"/>
            </a:solidFill>
            <a:prstDash val="solid"/>
          </a:ln>
        </p:spPr>
      </p:sp>
      <p:sp>
        <p:nvSpPr>
          <p:cNvPr id="18" name="Shape 16"/>
          <p:cNvSpPr/>
          <p:nvPr/>
        </p:nvSpPr>
        <p:spPr>
          <a:xfrm>
            <a:off x="2971800" y="5797296"/>
            <a:ext cx="4160520" cy="22860"/>
          </a:xfrm>
          <a:prstGeom prst="rect">
            <a:avLst/>
          </a:prstGeom>
          <a:solidFill>
            <a:srgbClr val="F2D080"/>
          </a:solidFill>
          <a:ln w="12700">
            <a:solidFill>
              <a:srgbClr val="333333"/>
            </a:solidFill>
            <a:prstDash val="solid"/>
          </a:ln>
        </p:spPr>
      </p:sp>
      <p:sp>
        <p:nvSpPr>
          <p:cNvPr id="19" name="Shape 17"/>
          <p:cNvSpPr/>
          <p:nvPr/>
        </p:nvSpPr>
        <p:spPr>
          <a:xfrm>
            <a:off x="2971800" y="5870448"/>
            <a:ext cx="4160520" cy="22860"/>
          </a:xfrm>
          <a:prstGeom prst="rect">
            <a:avLst/>
          </a:prstGeom>
          <a:solidFill>
            <a:srgbClr val="9FD4B0"/>
          </a:solidFill>
          <a:ln w="12700">
            <a:solidFill>
              <a:srgbClr val="333333"/>
            </a:solidFill>
            <a:prstDash val="solid"/>
          </a:ln>
        </p:spPr>
      </p:sp>
      <p:sp>
        <p:nvSpPr>
          <p:cNvPr id="20" name="Text 18"/>
          <p:cNvSpPr/>
          <p:nvPr/>
        </p:nvSpPr>
        <p:spPr>
          <a:xfrm>
            <a:off x="731520" y="6172200"/>
            <a:ext cx="105156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INCLUSIVE FINANCE COLLECTIVE · BUSINESS PLAN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2026-04-22T07:01:05Z</dcterms:created>
  <dcterms:modified xsi:type="dcterms:W3CDTF">2026-04-22T07:01:05Z</dcterms:modified>
</cp:coreProperties>
</file>