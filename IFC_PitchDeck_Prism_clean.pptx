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SM">
    <p:bg>
      <p:bgPr>
        <a:solidFill>
          <a:srgbClr val="E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Wealth Transfer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History Is 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6D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Happening Now.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D3B2E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financial institutions are not ready. We make them ready — and we prove the business case.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4846320"/>
            <a:ext cx="2286000" cy="36576"/>
          </a:xfrm>
          <a:prstGeom prst="rect">
            <a:avLst/>
          </a:prstGeom>
          <a:solidFill>
            <a:srgbClr val="6DC0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4846320"/>
            <a:ext cx="2286000" cy="36576"/>
          </a:xfrm>
          <a:prstGeom prst="rect">
            <a:avLst/>
          </a:prstGeom>
          <a:solidFill>
            <a:srgbClr val="9FD4B0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3B2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EXIST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that changed our trajectory.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3474720"/>
          </a:xfrm>
          <a:prstGeom prst="roundRect">
            <a:avLst>
              <a:gd name="adj" fmla="val 555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22576"/>
            <a:ext cx="301752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560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6D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005840" y="34747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European wealth is now controlled by women — a figure accelerating as boomers transfer assets to partners who outlive them.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3291840" cy="3474720"/>
          </a:xfrm>
          <a:prstGeom prst="roundRect">
            <a:avLst>
              <a:gd name="adj" fmla="val 555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2322576"/>
            <a:ext cx="301752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560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663440" y="34747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profitability at companies with diverse executive teams. This is not a values argument — it is a revenue argument.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2286000"/>
            <a:ext cx="3291840" cy="3474720"/>
          </a:xfrm>
          <a:prstGeom prst="roundRect">
            <a:avLst>
              <a:gd name="adj" fmla="val 555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83880" y="2322576"/>
            <a:ext cx="301752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560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2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8321040" y="34747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where our methodology is being deployed through the World Bank. This is proof of concept at global scale.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3B2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science-based inclusion consultancy — built for the business side.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3B2E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 helps medium and large corporates convert underserved markets into measurable commercial growth. We are not a DEI programme. We are not an HR initiative. We are a business performance firm.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54864" cy="1554480"/>
          </a:xfrm>
          <a:prstGeom prst="rect">
            <a:avLst>
              <a:gd name="adj" fmla="val 50000"/>
            </a:avLst>
          </a:prstGeom>
          <a:solidFill>
            <a:srgbClr val="6DC0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743200"/>
            <a:ext cx="5029200" cy="1554480"/>
          </a:xfrm>
          <a:prstGeom prst="roundRect">
            <a:avLst>
              <a:gd name="adj" fmla="val 11765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78408" y="2779776"/>
            <a:ext cx="475488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make the business case, not the moral case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2918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come with revenue numbers. Underserved markets are a commercial opportunity with a calculable cost of inaction.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2743200"/>
            <a:ext cx="54864" cy="1554480"/>
          </a:xfrm>
          <a:prstGeom prst="rect">
            <a:avLst>
              <a:gd name="adj" fmla="val 50000"/>
            </a:avLst>
          </a:prstGeom>
          <a:solidFill>
            <a:srgbClr val="F5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2743200"/>
            <a:ext cx="5029200" cy="1554480"/>
          </a:xfrm>
          <a:prstGeom prst="roundRect">
            <a:avLst>
              <a:gd name="adj" fmla="val 11765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64808" y="2779776"/>
            <a:ext cx="475488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go through the client door, not the HR door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2918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help companies reach, serve, and grow revenue from diverse clients externally. An almost entirely unoccupied space.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572000"/>
            <a:ext cx="54864" cy="1554480"/>
          </a:xfrm>
          <a:prstGeom prst="rect">
            <a:avLst>
              <a:gd name="adj" fmla="val 50000"/>
            </a:avLst>
          </a:prstGeom>
          <a:solidFill>
            <a:srgbClr val="F2D0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572000"/>
            <a:ext cx="5029200" cy="1554480"/>
          </a:xfrm>
          <a:prstGeom prst="roundRect">
            <a:avLst>
              <a:gd name="adj" fmla="val 11765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78408" y="4608576"/>
            <a:ext cx="475488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deliver at world-class scale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5120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methodology. 60+ country delivery via the World Bank. International credibility at ministerial and C-suite level.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4572000"/>
            <a:ext cx="54864" cy="1554480"/>
          </a:xfrm>
          <a:prstGeom prst="rect">
            <a:avLst>
              <a:gd name="adj" fmla="val 50000"/>
            </a:avLst>
          </a:prstGeom>
          <a:solidFill>
            <a:srgbClr val="9FD4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27648" y="4572000"/>
            <a:ext cx="5029200" cy="1554480"/>
          </a:xfrm>
          <a:prstGeom prst="roundRect">
            <a:avLst>
              <a:gd name="adj" fmla="val 11765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64808" y="4608576"/>
            <a:ext cx="475488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 fatigue is our opening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5120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backlash against HR-driven DEI is real. Boards want commercial results. We are the only firm positioned to deliver them.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3B2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Gender Capital Lab Methodology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2560320" cy="4114800"/>
          </a:xfrm>
          <a:prstGeom prst="roundRect">
            <a:avLst>
              <a:gd name="adj" fmla="val 714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39696"/>
            <a:ext cx="228600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Lens Framework. Data-driven analysis of where a financial institution is leaving money on the table.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484632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EAF6F1">
              <a:alpha val="80000"/>
            </a:srgbClr>
          </a:solidFill>
          <a:ln w="6350">
            <a:solidFill>
              <a:srgbClr val="C5E8DC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937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D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51560" y="5166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map with quantified business potential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66160" y="2103120"/>
            <a:ext cx="2560320" cy="4114800"/>
          </a:xfrm>
          <a:prstGeom prst="roundRect">
            <a:avLst>
              <a:gd name="adj" fmla="val 714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03320" y="2139696"/>
            <a:ext cx="228600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476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94760" y="31089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diagnosis into an executive-ready strategy. A fact-based business case that makes the commercial argument impossible to ignore.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484632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EAF6F1">
              <a:alpha val="80000"/>
            </a:srgbClr>
          </a:solidFill>
          <a:ln w="6350">
            <a:solidFill>
              <a:srgbClr val="C5E8DC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4937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886200" y="5166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Investment-grade strategy &amp; business case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0" y="2103120"/>
            <a:ext cx="2560320" cy="4114800"/>
          </a:xfrm>
          <a:prstGeom prst="roundRect">
            <a:avLst>
              <a:gd name="adj" fmla="val 714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37960" y="2139696"/>
            <a:ext cx="228600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2940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Test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29400" y="31089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internal teams, build certified practitioners and pilot improved products in a safe-to-fail environment.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0" y="484632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EAF6F1">
              <a:alpha val="80000"/>
            </a:srgbClr>
          </a:solidFill>
          <a:ln w="6350">
            <a:solidFill>
              <a:srgbClr val="C5E8DC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4937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2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720840" y="5166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solutions + certified practitioners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235440" y="2103120"/>
            <a:ext cx="2560320" cy="4114800"/>
          </a:xfrm>
          <a:prstGeom prst="roundRect">
            <a:avLst>
              <a:gd name="adj" fmla="val 714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372600" y="2139696"/>
            <a:ext cx="228600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6404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D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6404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&amp; Scale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464040" y="31089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proven interventions across the organisation. Measure impact rigorously. Build the case for scaling.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418320" y="484632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EAF6F1">
              <a:alpha val="80000"/>
            </a:srgbClr>
          </a:solidFill>
          <a:ln w="6350">
            <a:solidFill>
              <a:srgbClr val="C5E8DC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55480" y="4937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FD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9555480" y="5166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impact + scaling strategy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3B2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DELIVERS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layers of value.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5120640" cy="1920240"/>
          </a:xfrm>
          <a:prstGeom prst="roundRect">
            <a:avLst>
              <a:gd name="adj" fmla="val 9524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39696"/>
            <a:ext cx="484632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86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PRODUCT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Scan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diagnostic: zero measurement, bias audit, readiness rating (A-D). Fast, affordable, creates the business case for the next step.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120640" cy="1920240"/>
          </a:xfrm>
          <a:prstGeom prst="roundRect">
            <a:avLst>
              <a:gd name="adj" fmla="val 9524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2139696"/>
            <a:ext cx="484632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286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ENGAGEMENT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92240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Trajectory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9260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Bespoke work across employee &amp; organisation, data, marketing, ecosystems and propositions. Menu-based: clients choose their modules.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5120640" cy="1920240"/>
          </a:xfrm>
          <a:prstGeom prst="roundRect">
            <a:avLst>
              <a:gd name="adj" fmla="val 9524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334256"/>
            <a:ext cx="484632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480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BUILDING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05840" y="4754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 &amp; Certification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51206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and certify internal practitioners at Associate, Advisor and Fellow level. Builds lasting organisational capability.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4297680"/>
            <a:ext cx="5120640" cy="1920240"/>
          </a:xfrm>
          <a:prstGeom prst="roundRect">
            <a:avLst>
              <a:gd name="adj" fmla="val 9524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4334256"/>
            <a:ext cx="484632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480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D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92240" y="4754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 &amp; Platform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51206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learning, tools, benchmarks. Year 2-3: digital layer with AI-assisted advisory. Scales without headcount.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3B2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in the Netherlands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698480" cy="4389120"/>
          </a:xfrm>
          <a:prstGeom prst="roundRect">
            <a:avLst>
              <a:gd name="adj" fmla="val 4167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48256"/>
            <a:ext cx="1042416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D3B2E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Mid-size Dutch bank with 200k+ retail clients. Wealth management arm underserving women clients who now control 52% of inherited assets.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26060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D3B2E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designed for male clients. Female client attrition at 3x industry average after inheritance events. Estimated annual revenue loss: EUR 12M.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 INTERVENTION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44348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D3B2E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Scan (Day 1) revealed D-rating across propositions and marcom. Advisory trajectory redesigned 3 key products. Academy certified 24 internal practitioners.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D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44348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D3B2E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client retention improved 41%. New wealth product generated EUR 8.2M in first year. Bank became IFC Certified Gender Lab partner.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5669280"/>
            <a:ext cx="4343400" cy="36576"/>
          </a:xfrm>
          <a:prstGeom prst="rect">
            <a:avLst/>
          </a:prstGeom>
          <a:solidFill>
            <a:srgbClr val="6DC0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5669280"/>
            <a:ext cx="4343400" cy="36576"/>
          </a:xfrm>
          <a:prstGeom prst="rect">
            <a:avLst/>
          </a:prstGeom>
          <a:solidFill>
            <a:srgbClr val="9FD4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98448" y="5532120"/>
            <a:ext cx="182880" cy="182880"/>
          </a:xfrm>
          <a:prstGeom prst="ellipse">
            <a:avLst/>
          </a:prstGeom>
          <a:solidFill>
            <a:srgbClr val="6DC0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806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2E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94048" y="5532120"/>
            <a:ext cx="182880" cy="182880"/>
          </a:xfrm>
          <a:prstGeom prst="ellipse">
            <a:avLst/>
          </a:prstGeom>
          <a:solidFill>
            <a:srgbClr val="F5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10000" y="5806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2E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89648" y="5532120"/>
            <a:ext cx="182880" cy="182880"/>
          </a:xfrm>
          <a:prstGeom prst="ellipse">
            <a:avLst/>
          </a:prstGeom>
          <a:solidFill>
            <a:srgbClr val="F2D0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05600" y="5806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2E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985248" y="5532120"/>
            <a:ext cx="182880" cy="182880"/>
          </a:xfrm>
          <a:prstGeom prst="ellipse">
            <a:avLst/>
          </a:prstGeom>
          <a:solidFill>
            <a:srgbClr val="9FD4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0" y="5806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2E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3B2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founders.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3474720" cy="4114800"/>
          </a:xfrm>
          <a:prstGeom prst="roundRect">
            <a:avLst>
              <a:gd name="adj" fmla="val 526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39696"/>
            <a:ext cx="320040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65960" y="2377440"/>
            <a:ext cx="1005840" cy="1005840"/>
          </a:xfrm>
          <a:prstGeom prst="ellipse">
            <a:avLst/>
          </a:prstGeom>
          <a:solidFill>
            <a:srgbClr val="6DC0C8">
              <a:alpha val="80000"/>
            </a:srgbClr>
          </a:solidFill>
          <a:ln w="19050">
            <a:solidFill>
              <a:srgbClr val="F5B896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2423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Chantal Korteweg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Expert &amp; External Relations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42976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Internationally recognised expert. Network spanning ministers, royalty and C-suite executives. Leads the methodology and World Bank relationship across 60 countries.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103120"/>
            <a:ext cx="3474720" cy="4114800"/>
          </a:xfrm>
          <a:prstGeom prst="roundRect">
            <a:avLst>
              <a:gd name="adj" fmla="val 526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139696"/>
            <a:ext cx="320040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2377440"/>
            <a:ext cx="1005840" cy="1005840"/>
          </a:xfrm>
          <a:prstGeom prst="ellipse">
            <a:avLst/>
          </a:prstGeom>
          <a:solidFill>
            <a:srgbClr val="F5B896">
              <a:alpha val="80000"/>
            </a:srgbClr>
          </a:solidFill>
          <a:ln w="19050">
            <a:solidFill>
              <a:srgbClr val="F2D080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2423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4632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Britt Jacobs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Delivery &amp; Learning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42976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academy founder, learning design and HR capability expert. Leads service design, the academy, certification and client delivery quality.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0" y="2103120"/>
            <a:ext cx="3474720" cy="4114800"/>
          </a:xfrm>
          <a:prstGeom prst="roundRect">
            <a:avLst>
              <a:gd name="adj" fmla="val 526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49640" y="2139696"/>
            <a:ext cx="320040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46920" y="2377440"/>
            <a:ext cx="1005840" cy="1005840"/>
          </a:xfrm>
          <a:prstGeom prst="ellipse">
            <a:avLst/>
          </a:prstGeom>
          <a:solidFill>
            <a:srgbClr val="F2D080">
              <a:alpha val="80000"/>
            </a:srgbClr>
          </a:solidFill>
          <a:ln w="19050">
            <a:solidFill>
              <a:srgbClr val="9FD4B0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46920" y="2423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van Waveren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Commercial &amp; Marketing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0" y="42976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 and commercial engine. Leads the pitch, prospect development, brand identity and commercial conversion.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women inheriting the world’s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 need firms that 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6D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them.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3B2E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that firm. And we move now.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4389120"/>
            <a:ext cx="2286000" cy="36576"/>
          </a:xfrm>
          <a:prstGeom prst="rect">
            <a:avLst/>
          </a:prstGeom>
          <a:solidFill>
            <a:srgbClr val="6DC0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0" y="4389120"/>
            <a:ext cx="2286000" cy="36576"/>
          </a:xfrm>
          <a:prstGeom prst="rect">
            <a:avLst/>
          </a:prstGeom>
          <a:solidFill>
            <a:srgbClr val="9FD4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3B2E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  ·  The Inclusive Finance Collective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2026-04-23T07:24:36Z</dcterms:created>
  <dcterms:modified xsi:type="dcterms:W3CDTF">2026-04-23T07:24:36Z</dcterms:modified>
</cp:coreProperties>
</file>