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SM">
    <p:bg>
      <p:bgPr>
        <a:solidFill>
          <a:srgbClr val="E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6858000" cy="6858000"/>
          </a:xfrm>
          <a:prstGeom prst="ellipse">
            <a:avLst/>
          </a:prstGeom>
          <a:solidFill>
            <a:srgbClr val="D5ED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3200400"/>
            <a:ext cx="6858000" cy="6858000"/>
          </a:xfrm>
          <a:prstGeom prst="ellipse">
            <a:avLst/>
          </a:prstGeom>
          <a:solidFill>
            <a:srgbClr val="FAE5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3200400"/>
            <a:ext cx="6858000" cy="6858000"/>
          </a:xfrm>
          <a:prstGeom prst="ellipse">
            <a:avLst/>
          </a:prstGeom>
          <a:solidFill>
            <a:srgbClr val="F9EC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3200400"/>
            <a:ext cx="6858000" cy="6858000"/>
          </a:xfrm>
          <a:prstGeom prst="ellipse">
            <a:avLst/>
          </a:prstGeom>
          <a:solidFill>
            <a:srgbClr val="DCE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Wealth Transfer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History Is 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Happening Now.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financial institutions are not ready. We make them ready — and we prove the business case.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846320"/>
            <a:ext cx="2286000" cy="36576"/>
          </a:xfrm>
          <a:prstGeom prst="rect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4846320"/>
            <a:ext cx="2286000" cy="36576"/>
          </a:xfrm>
          <a:prstGeom prst="rect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6858000" cy="6858000"/>
          </a:xfrm>
          <a:prstGeom prst="ellipse">
            <a:avLst/>
          </a:prstGeom>
          <a:solidFill>
            <a:srgbClr val="D5ED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3200400"/>
            <a:ext cx="6858000" cy="6858000"/>
          </a:xfrm>
          <a:prstGeom prst="ellipse">
            <a:avLst/>
          </a:prstGeom>
          <a:solidFill>
            <a:srgbClr val="FAE5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3200400"/>
            <a:ext cx="6858000" cy="6858000"/>
          </a:xfrm>
          <a:prstGeom prst="ellipse">
            <a:avLst/>
          </a:prstGeom>
          <a:solidFill>
            <a:srgbClr val="F9EC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3200400"/>
            <a:ext cx="6858000" cy="6858000"/>
          </a:xfrm>
          <a:prstGeom prst="ellipse">
            <a:avLst/>
          </a:prstGeom>
          <a:solidFill>
            <a:srgbClr val="DCE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EXIST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that changed our trajectory.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3291840" cy="34747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European wealth is now controlled by women — a figure accelerating as boomers transfer assets to partners who outlive them.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286000"/>
            <a:ext cx="3291840" cy="34747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6634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profitability at companies with diverse executive teams. This is not a values argument — it is a revenue argument.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291840" cy="34747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3210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where our methodology is being deployed through the World Bank. This is proof of concept at global scale.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6858000" cy="6858000"/>
          </a:xfrm>
          <a:prstGeom prst="ellipse">
            <a:avLst/>
          </a:prstGeom>
          <a:solidFill>
            <a:srgbClr val="D5ED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3200400"/>
            <a:ext cx="6858000" cy="6858000"/>
          </a:xfrm>
          <a:prstGeom prst="ellipse">
            <a:avLst/>
          </a:prstGeom>
          <a:solidFill>
            <a:srgbClr val="FAE5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3200400"/>
            <a:ext cx="6858000" cy="6858000"/>
          </a:xfrm>
          <a:prstGeom prst="ellipse">
            <a:avLst/>
          </a:prstGeom>
          <a:solidFill>
            <a:srgbClr val="F9EC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3200400"/>
            <a:ext cx="6858000" cy="6858000"/>
          </a:xfrm>
          <a:prstGeom prst="ellipse">
            <a:avLst/>
          </a:prstGeom>
          <a:solidFill>
            <a:srgbClr val="DCE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science-based inclusion consultancy — built for the business side.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 helps medium and large corporates convert underserved markets into measurable commercial growth. We are not a DEI programme. We are not an HR initiative. We are a business performance firm.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54864" cy="1554480"/>
          </a:xfrm>
          <a:prstGeom prst="rect">
            <a:avLst>
              <a:gd name="adj" fmla="val 50000"/>
            </a:avLst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743200"/>
            <a:ext cx="50292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make the business case, not the moral case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291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come with revenue numbers. Underserved markets are a commercial opportunity with a calculable cost of inaction.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54864" cy="1554480"/>
          </a:xfrm>
          <a:prstGeom prst="rect">
            <a:avLst>
              <a:gd name="adj" fmla="val 50000"/>
            </a:avLst>
          </a:prstGeom>
          <a:solidFill>
            <a:srgbClr val="F5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648" y="2743200"/>
            <a:ext cx="50292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go through the client door, not the HR door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help companies reach, serve, and grow revenue from diverse clients externally. An almost entirely unoccupied space.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54864" cy="1554480"/>
          </a:xfrm>
          <a:prstGeom prst="rect">
            <a:avLst>
              <a:gd name="adj" fmla="val 50000"/>
            </a:avLst>
          </a:prstGeom>
          <a:solidFill>
            <a:srgbClr val="F2D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4572000"/>
            <a:ext cx="50292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deliver at world-class scale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methodology. 60+ country delivery via the World Bank. International credibility at ministerial and C-suite level.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4572000"/>
            <a:ext cx="54864" cy="1554480"/>
          </a:xfrm>
          <a:prstGeom prst="rect">
            <a:avLst>
              <a:gd name="adj" fmla="val 50000"/>
            </a:avLst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7648" y="4572000"/>
            <a:ext cx="50292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 fatigue is our opening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backlash against HR-driven DEI is real. Boards want commercial results. We are the only firm positioned to deliver them.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6858000" cy="6858000"/>
          </a:xfrm>
          <a:prstGeom prst="ellipse">
            <a:avLst/>
          </a:prstGeom>
          <a:solidFill>
            <a:srgbClr val="D5ED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3200400"/>
            <a:ext cx="6858000" cy="6858000"/>
          </a:xfrm>
          <a:prstGeom prst="ellipse">
            <a:avLst/>
          </a:prstGeom>
          <a:solidFill>
            <a:srgbClr val="FAE5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3200400"/>
            <a:ext cx="6858000" cy="6858000"/>
          </a:xfrm>
          <a:prstGeom prst="ellipse">
            <a:avLst/>
          </a:prstGeom>
          <a:solidFill>
            <a:srgbClr val="F9EC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3200400"/>
            <a:ext cx="6858000" cy="6858000"/>
          </a:xfrm>
          <a:prstGeom prst="ellipse">
            <a:avLst/>
          </a:prstGeom>
          <a:solidFill>
            <a:srgbClr val="DCE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Gender Capital Lab Methodology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Lens Framework. Data-driven analysis of where a financial institution is leaving money on the table.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/>
          </a:solidFill>
          <a:ln w="9525">
            <a:solidFill>
              <a:srgbClr val="D5E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5156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map with quantified business potential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21031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9476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diagnosis into an executive-ready strategy. A fact-based business case that makes the commercial argument impossible to ignore.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/>
          </a:solidFill>
          <a:ln w="9525">
            <a:solidFill>
              <a:srgbClr val="D5E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8620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Investment-grade strategy &amp; business case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21031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940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2940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internal teams, build certified practitioners and pilot improved products in a safe-to-fail environment.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/>
          </a:solidFill>
          <a:ln w="9525">
            <a:solidFill>
              <a:srgbClr val="D5E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72084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solutions + certified practitioners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235440" y="21031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6404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6404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&amp; Scale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46404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proven interventions across the organisation. Measure impact rigorously. Build the case for scaling.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41832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/>
          </a:solidFill>
          <a:ln w="9525">
            <a:solidFill>
              <a:srgbClr val="D5E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5548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55548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impact + scaling strategy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6858000" cy="6858000"/>
          </a:xfrm>
          <a:prstGeom prst="ellipse">
            <a:avLst/>
          </a:prstGeom>
          <a:solidFill>
            <a:srgbClr val="D5ED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3200400"/>
            <a:ext cx="6858000" cy="6858000"/>
          </a:xfrm>
          <a:prstGeom prst="ellipse">
            <a:avLst/>
          </a:prstGeom>
          <a:solidFill>
            <a:srgbClr val="FAE5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3200400"/>
            <a:ext cx="6858000" cy="6858000"/>
          </a:xfrm>
          <a:prstGeom prst="ellipse">
            <a:avLst/>
          </a:prstGeom>
          <a:solidFill>
            <a:srgbClr val="F9EC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3200400"/>
            <a:ext cx="6858000" cy="6858000"/>
          </a:xfrm>
          <a:prstGeom prst="ellipse">
            <a:avLst/>
          </a:prstGeom>
          <a:solidFill>
            <a:srgbClr val="DCE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 of value.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512064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PRODUCT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diagnostic: zero measurement, bias audit, readiness rating (A-D). Fast, affordable, creates the business case for the next step.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512064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ENGAGEMENT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9224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Trajectory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9260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work across employee &amp; organisation, data, marketing, ecosystems and propositions. Menu-based: clients choose their modules.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512064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BUILDING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0584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&amp; Certification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51206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and certify internal practitioners at Associate, Advisor and Fellow level. Builds lasting organisational capability.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4297680"/>
            <a:ext cx="512064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9224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&amp; Platform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51206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learning, tools, benchmarks. Year 2-3: digital layer with AI-assisted advisory. Scales without headcount.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6858000" cy="6858000"/>
          </a:xfrm>
          <a:prstGeom prst="ellipse">
            <a:avLst/>
          </a:prstGeom>
          <a:solidFill>
            <a:srgbClr val="D5ED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3200400"/>
            <a:ext cx="6858000" cy="6858000"/>
          </a:xfrm>
          <a:prstGeom prst="ellipse">
            <a:avLst/>
          </a:prstGeom>
          <a:solidFill>
            <a:srgbClr val="FAE5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3200400"/>
            <a:ext cx="6858000" cy="6858000"/>
          </a:xfrm>
          <a:prstGeom prst="ellipse">
            <a:avLst/>
          </a:prstGeom>
          <a:solidFill>
            <a:srgbClr val="F9EC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3200400"/>
            <a:ext cx="6858000" cy="6858000"/>
          </a:xfrm>
          <a:prstGeom prst="ellipse">
            <a:avLst/>
          </a:prstGeom>
          <a:solidFill>
            <a:srgbClr val="DCE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in the Netherlands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106984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 Dutch bank with 200k+ retail clients. Wealth management arm underserving women clients who now control 52% of inherited assets.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designed for male clients. Female client attrition at 3x industry average after inheritance events. Estimated annual revenue loss: EUR 12M.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 INTERVENTION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Scan (Day 1) revealed D-rating across propositions and marcom. Advisory trajectory redesigned 3 key products. Academy certified 24 internal practitioners.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44348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client retention improved 41%. New wealth product generated EUR 8.2M in first year. Bank became IFC Certified Gender Lab partner.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5669280"/>
            <a:ext cx="4343400" cy="36576"/>
          </a:xfrm>
          <a:prstGeom prst="rect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5669280"/>
            <a:ext cx="4343400" cy="36576"/>
          </a:xfrm>
          <a:prstGeom prst="rect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8448" y="5532120"/>
            <a:ext cx="182880" cy="182880"/>
          </a:xfrm>
          <a:prstGeom prst="ellipse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94048" y="5532120"/>
            <a:ext cx="182880" cy="182880"/>
          </a:xfrm>
          <a:prstGeom prst="ellipse">
            <a:avLst/>
          </a:prstGeom>
          <a:solidFill>
            <a:srgbClr val="F5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00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9648" y="5532120"/>
            <a:ext cx="182880" cy="182880"/>
          </a:xfrm>
          <a:prstGeom prst="ellipse">
            <a:avLst/>
          </a:prstGeom>
          <a:solidFill>
            <a:srgbClr val="F2D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56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985248" y="5532120"/>
            <a:ext cx="182880" cy="182880"/>
          </a:xfrm>
          <a:prstGeom prst="ellipse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6858000" cy="6858000"/>
          </a:xfrm>
          <a:prstGeom prst="ellipse">
            <a:avLst/>
          </a:prstGeom>
          <a:solidFill>
            <a:srgbClr val="D5ED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3200400"/>
            <a:ext cx="6858000" cy="6858000"/>
          </a:xfrm>
          <a:prstGeom prst="ellipse">
            <a:avLst/>
          </a:prstGeom>
          <a:solidFill>
            <a:srgbClr val="FAE5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3200400"/>
            <a:ext cx="6858000" cy="6858000"/>
          </a:xfrm>
          <a:prstGeom prst="ellipse">
            <a:avLst/>
          </a:prstGeom>
          <a:solidFill>
            <a:srgbClr val="F9EC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3200400"/>
            <a:ext cx="6858000" cy="6858000"/>
          </a:xfrm>
          <a:prstGeom prst="ellipse">
            <a:avLst/>
          </a:prstGeom>
          <a:solidFill>
            <a:srgbClr val="DCE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founders.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2377440"/>
            <a:ext cx="1005840" cy="1005840"/>
          </a:xfrm>
          <a:prstGeom prst="ellipse">
            <a:avLst/>
          </a:prstGeom>
          <a:solidFill>
            <a:srgbClr val="6DC0C8"/>
          </a:solidFill>
          <a:ln w="19050">
            <a:solidFill>
              <a:srgbClr val="F5B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2423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Chantal Korteweg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Expert &amp; External Relations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4297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Internationally recognised expert. Network spanning ministers, royalty and C-suite executives. Leads the methodology and World Bank relationship across 60 countries.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0312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2377440"/>
            <a:ext cx="1005840" cy="1005840"/>
          </a:xfrm>
          <a:prstGeom prst="ellipse">
            <a:avLst/>
          </a:prstGeom>
          <a:solidFill>
            <a:srgbClr val="F5B896"/>
          </a:solidFill>
          <a:ln w="19050">
            <a:solidFill>
              <a:srgbClr val="F2D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423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Britt Jacobs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Delivery &amp; Learning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4297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academy founder, learning design and HR capability expert. Leads service design, the academy, certification and client delivery quality.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0" y="210312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5E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46920" y="2377440"/>
            <a:ext cx="1005840" cy="1005840"/>
          </a:xfrm>
          <a:prstGeom prst="ellipse">
            <a:avLst/>
          </a:prstGeom>
          <a:solidFill>
            <a:srgbClr val="F2D080"/>
          </a:solidFill>
          <a:ln w="19050">
            <a:solidFill>
              <a:srgbClr val="9FD4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2423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van Waveren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Commercial &amp; Marketing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0" y="4297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 and commercial engine. Leads the pitch, prospect development, brand identity and commercial conversion.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6858000" cy="6858000"/>
          </a:xfrm>
          <a:prstGeom prst="ellipse">
            <a:avLst/>
          </a:prstGeom>
          <a:solidFill>
            <a:srgbClr val="D5ED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3200400"/>
            <a:ext cx="6858000" cy="6858000"/>
          </a:xfrm>
          <a:prstGeom prst="ellipse">
            <a:avLst/>
          </a:prstGeom>
          <a:solidFill>
            <a:srgbClr val="FAE5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3200400"/>
            <a:ext cx="6858000" cy="6858000"/>
          </a:xfrm>
          <a:prstGeom prst="ellipse">
            <a:avLst/>
          </a:prstGeom>
          <a:solidFill>
            <a:srgbClr val="F9EC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3200400"/>
            <a:ext cx="6858000" cy="6858000"/>
          </a:xfrm>
          <a:prstGeom prst="ellipse">
            <a:avLst/>
          </a:prstGeom>
          <a:solidFill>
            <a:srgbClr val="DCE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women inheriting the world’s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need firms that 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them.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that firm. And we move now.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389120"/>
            <a:ext cx="2286000" cy="36576"/>
          </a:xfrm>
          <a:prstGeom prst="rect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4389120"/>
            <a:ext cx="2286000" cy="36576"/>
          </a:xfrm>
          <a:prstGeom prst="rect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2E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  ·  The Inclusive Finance Collective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2026-04-23T07:24:37Z</dcterms:created>
  <dcterms:modified xsi:type="dcterms:W3CDTF">2026-04-23T07:24:37Z</dcterms:modified>
</cp:coreProperties>
</file>